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V already runs inside more than 400 TV brands, yet almost nobody knows our name. In the next five minutes I'll show how social turns that invisible scale into market leadership and consumer love.</a:t>
            </a:r>
          </a:p>
          <a:p/>
          <a:p>
            <a:r>
              <a:t>TOUGH QUESTION:</a:t>
            </a:r>
          </a:p>
          <a:p>
            <a:r>
              <a:t>Why should a B2B operating system invest in social at all?</a:t>
            </a:r>
          </a:p>
          <a:p/>
          <a:p>
            <a:r>
              <a:t>WINNING ANSWER (3 sec):</a:t>
            </a:r>
          </a:p>
          <a:p>
            <a:r>
              <a:t>Because OEMs, advertisers and buyers all check us there first, and today they find nothing.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Samsung and LG use social like a product manual: chips, processors, specs, and nobody feels anything. Roku turned a screen saver into a cult icon, which proves the category rewards culture, and that's the lane we take.</a:t>
            </a:r>
          </a:p>
          <a:p/>
          <a:p>
            <a:r>
              <a:t>TOUGH QUESTION:</a:t>
            </a:r>
          </a:p>
          <a:p>
            <a:r>
              <a:t>Isn't Roku a consumer device brand, unlike us?</a:t>
            </a:r>
          </a:p>
          <a:p/>
          <a:p>
            <a:r>
              <a:t>WINNING ANSWER (3 sec):</a:t>
            </a:r>
          </a:p>
          <a:p>
            <a:r>
              <a:t>So is every TV we power; we win the living room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We run two engines with two clear jobs: LinkedIn builds our authority with OEMs, partners and advertisers, and Instagram builds loyalty with the people on the sofa. One brand, one look, but each channel is judged by its own business outcome.</a:t>
            </a:r>
          </a:p>
          <a:p/>
          <a:p>
            <a:r>
              <a:t>TOUGH QUESTION:</a:t>
            </a:r>
          </a:p>
          <a:p>
            <a:r>
              <a:t>Why not TikTok, X and everything else too?</a:t>
            </a:r>
          </a:p>
          <a:p/>
          <a:p>
            <a:r>
              <a:t>WINNING ANSWER (3 sec):</a:t>
            </a:r>
          </a:p>
          <a:p>
            <a:r>
              <a:t>Focus: two engines done brilliantly beat six done averagely.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On LinkedIn we sell what only V has: viewing data from 400-plus brands, headline partnerships like Teads, OpenAI and Hisense, and the personal voices of Guy and Dennis. When an OEM or media buyer thinks about the future of TV, we want V to be the first name in their feed.</a:t>
            </a:r>
          </a:p>
          <a:p/>
          <a:p>
            <a:r>
              <a:t>TOUGH QUESTION:</a:t>
            </a:r>
          </a:p>
          <a:p>
            <a:r>
              <a:t>Is sharing our viewing data a risk?</a:t>
            </a:r>
          </a:p>
          <a:p/>
          <a:p>
            <a:r>
              <a:t>WINNING ANSWER (3 sec):</a:t>
            </a:r>
          </a:p>
          <a:p>
            <a:r>
              <a:t>We publish aggregated insights only; the raw data stays 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We relaunch the dormant Instagram with one panoramic living room split across nine tiles, Where Moments Come Alive, so the profile itself becomes the launch. Then we stay alive with 15-second TV hacks and community formats like My Ritual, real couches, real families, zero gloss.</a:t>
            </a:r>
          </a:p>
          <a:p/>
          <a:p>
            <a:r>
              <a:t>TOUGH QUESTION:</a:t>
            </a:r>
          </a:p>
          <a:p>
            <a:r>
              <a:t>Will a dormant account really come back?</a:t>
            </a:r>
          </a:p>
          <a:p/>
          <a:p>
            <a:r>
              <a:t>WINNING ANSWER (3 sec):</a:t>
            </a:r>
          </a:p>
          <a:p>
            <a:r>
              <a:t>The 9-grid is the reset button; the formats are built to earn the follow.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Instead of expensive glossy ads, we hand the camera to real employees, real users and creators and let them film their own living rooms. It costs a fraction of a production and people trust it more, because people believe people, not logos.</a:t>
            </a:r>
          </a:p>
          <a:p/>
          <a:p>
            <a:r>
              <a:t>TOUGH QUESTION:</a:t>
            </a:r>
          </a:p>
          <a:p>
            <a:r>
              <a:t>How do we protect the brand if it's unfiltered?</a:t>
            </a:r>
          </a:p>
          <a:p/>
          <a:p>
            <a:r>
              <a:t>WINNING ANSWER (3 sec):</a:t>
            </a:r>
          </a:p>
          <a:p>
            <a:r>
              <a:t>Clear playbook, light approval, and we only boost what's on-brand.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a:t>
            </a:r>
          </a:p>
          <a:p>
            <a:r>
              <a:t>We relaunch in Q4, peak at CES Las Vegas in January with live executive coverage and creator takeovers, then switch to always-on growth through 2027. All I need today is your green light for the Q4 relaunch and the CES activation.</a:t>
            </a:r>
          </a:p>
          <a:p/>
          <a:p>
            <a:r>
              <a:t>TOUGH QUESTION:</a:t>
            </a:r>
          </a:p>
          <a:p>
            <a:r>
              <a:t>What will I see before CES to know it's working?</a:t>
            </a:r>
          </a:p>
          <a:p/>
          <a:p>
            <a:r>
              <a:t>WINNING ANSWER (3 sec):</a:t>
            </a:r>
          </a:p>
          <a:p>
            <a:r>
              <a:t>A monthly scorecard: B2B inbound and Instagram growth, from month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Oval 1"/>
          <p:cNvSpPr/>
          <p:nvPr/>
        </p:nvSpPr>
        <p:spPr>
          <a:xfrm>
            <a:off x="-1097280" y="822960"/>
            <a:ext cx="5852160" cy="5852160"/>
          </a:xfrm>
          <a:prstGeom prst="ellipse">
            <a:avLst/>
          </a:prstGeom>
          <a:solidFill>
            <a:srgbClr val="3A2F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0"/>
            <a:ext cx="4206240" cy="5120640"/>
          </a:xfrm>
          <a:prstGeom prst="rect">
            <a:avLst/>
          </a:prstGeom>
          <a:noFill/>
        </p:spPr>
        <p:txBody>
          <a:bodyPr wrap="square" anchor="ctr" lIns="0" rIns="0" tIns="0" bIns="0">
            <a:spAutoFit/>
          </a:bodyPr>
          <a:lstStyle/>
          <a:p>
            <a:pPr algn="ctr"/>
            <a:r>
              <a:rPr sz="30000" b="0">
                <a:solidFill>
                  <a:srgbClr val="F5C518"/>
                </a:solidFill>
                <a:latin typeface="Arial Black"/>
              </a:rPr>
              <a:t>V</a:t>
            </a:r>
          </a:p>
        </p:txBody>
      </p:sp>
      <p:sp>
        <p:nvSpPr>
          <p:cNvPr id="4" name="TextBox 3"/>
          <p:cNvSpPr txBox="1"/>
          <p:nvPr/>
        </p:nvSpPr>
        <p:spPr>
          <a:xfrm>
            <a:off x="5120640" y="1234440"/>
            <a:ext cx="6400800" cy="274320"/>
          </a:xfrm>
          <a:prstGeom prst="rect">
            <a:avLst/>
          </a:prstGeom>
          <a:noFill/>
        </p:spPr>
        <p:txBody>
          <a:bodyPr wrap="square" anchor="t" lIns="0" rIns="0" tIns="0" bIns="0">
            <a:spAutoFit/>
          </a:bodyPr>
          <a:lstStyle/>
          <a:p>
            <a:pPr algn="l"/>
            <a:r>
              <a:rPr sz="1200" b="1" spc="300">
                <a:solidFill>
                  <a:srgbClr val="F5C518"/>
                </a:solidFill>
                <a:latin typeface="Arial"/>
              </a:rPr>
              <a:t>EXECUTIVE SOCIAL STRATEGY  |  2026-2027</a:t>
            </a:r>
          </a:p>
        </p:txBody>
      </p:sp>
      <p:sp>
        <p:nvSpPr>
          <p:cNvPr id="5" name="TextBox 4"/>
          <p:cNvSpPr txBox="1"/>
          <p:nvPr/>
        </p:nvSpPr>
        <p:spPr>
          <a:xfrm>
            <a:off x="5120640" y="1691640"/>
            <a:ext cx="6492240" cy="2377440"/>
          </a:xfrm>
          <a:prstGeom prst="rect">
            <a:avLst/>
          </a:prstGeom>
          <a:noFill/>
        </p:spPr>
        <p:txBody>
          <a:bodyPr wrap="square" anchor="t" lIns="0" rIns="0" tIns="0" bIns="0">
            <a:spAutoFit/>
          </a:bodyPr>
          <a:lstStyle/>
          <a:p>
            <a:pPr algn="l">
              <a:lnSpc>
                <a:spcPct val="90000"/>
              </a:lnSpc>
            </a:pPr>
            <a:r>
              <a:rPr sz="5600" b="0">
                <a:solidFill>
                  <a:srgbClr val="FFFFFF"/>
                </a:solidFill>
                <a:latin typeface="Arial Black"/>
              </a:rPr>
              <a:t>BEYOND</a:t>
            </a:r>
          </a:p>
          <a:p>
            <a:pPr algn="l">
              <a:lnSpc>
                <a:spcPct val="90000"/>
              </a:lnSpc>
            </a:pPr>
            <a:r>
              <a:rPr sz="5600" b="0">
                <a:solidFill>
                  <a:srgbClr val="FFFFFF"/>
                </a:solidFill>
                <a:latin typeface="Arial Black"/>
              </a:rPr>
              <a:t>THE BIG</a:t>
            </a:r>
          </a:p>
          <a:p>
            <a:pPr algn="l">
              <a:lnSpc>
                <a:spcPct val="90000"/>
              </a:lnSpc>
            </a:pPr>
            <a:r>
              <a:rPr sz="5600" b="0">
                <a:solidFill>
                  <a:srgbClr val="FFFFFF"/>
                </a:solidFill>
                <a:latin typeface="Arial Black"/>
              </a:rPr>
              <a:t>SCREEN.</a:t>
            </a:r>
          </a:p>
        </p:txBody>
      </p:sp>
      <p:sp>
        <p:nvSpPr>
          <p:cNvPr id="6" name="Rectangle 5"/>
          <p:cNvSpPr/>
          <p:nvPr/>
        </p:nvSpPr>
        <p:spPr>
          <a:xfrm>
            <a:off x="5120640" y="4343400"/>
            <a:ext cx="1097280" cy="64008"/>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0" y="4572000"/>
            <a:ext cx="6400800" cy="457200"/>
          </a:xfrm>
          <a:prstGeom prst="rect">
            <a:avLst/>
          </a:prstGeom>
          <a:noFill/>
        </p:spPr>
        <p:txBody>
          <a:bodyPr wrap="square" anchor="t" lIns="0" rIns="0" tIns="0" bIns="0">
            <a:spAutoFit/>
          </a:bodyPr>
          <a:lstStyle/>
          <a:p>
            <a:pPr algn="l"/>
            <a:r>
              <a:rPr sz="1600" b="0">
                <a:solidFill>
                  <a:srgbClr val="A0A0A0"/>
                </a:solidFill>
                <a:latin typeface="Arial"/>
              </a:rPr>
              <a:t>From the OS inside 400+ TV brands to the brand inside every living room.</a:t>
            </a:r>
          </a:p>
        </p:txBody>
      </p:sp>
      <p:sp>
        <p:nvSpPr>
          <p:cNvPr id="8" name="Rounded Rectangle 7"/>
          <p:cNvSpPr/>
          <p:nvPr/>
        </p:nvSpPr>
        <p:spPr>
          <a:xfrm>
            <a:off x="5120640" y="5303520"/>
            <a:ext cx="1583740"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0" y="5303520"/>
            <a:ext cx="1583740" cy="365760"/>
          </a:xfrm>
          <a:prstGeom prst="rect">
            <a:avLst/>
          </a:prstGeom>
          <a:noFill/>
        </p:spPr>
        <p:txBody>
          <a:bodyPr wrap="square" anchor="ctr" lIns="0" rIns="0" tIns="0" bIns="0">
            <a:spAutoFit/>
          </a:bodyPr>
          <a:lstStyle/>
          <a:p>
            <a:pPr algn="ctr"/>
            <a:r>
              <a:rPr sz="1000" b="1">
                <a:solidFill>
                  <a:srgbClr val="F5C518"/>
                </a:solidFill>
                <a:latin typeface="Arial"/>
              </a:rPr>
              <a:t>400+ TV BRANDS</a:t>
            </a:r>
          </a:p>
        </p:txBody>
      </p:sp>
      <p:sp>
        <p:nvSpPr>
          <p:cNvPr id="10" name="Rounded Rectangle 9"/>
          <p:cNvSpPr/>
          <p:nvPr/>
        </p:nvSpPr>
        <p:spPr>
          <a:xfrm>
            <a:off x="6841540" y="5303520"/>
            <a:ext cx="1942185"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41540" y="5303520"/>
            <a:ext cx="1942185" cy="365760"/>
          </a:xfrm>
          <a:prstGeom prst="rect">
            <a:avLst/>
          </a:prstGeom>
          <a:noFill/>
        </p:spPr>
        <p:txBody>
          <a:bodyPr wrap="square" anchor="ctr" lIns="0" rIns="0" tIns="0" bIns="0">
            <a:spAutoFit/>
          </a:bodyPr>
          <a:lstStyle/>
          <a:p>
            <a:pPr algn="ctr"/>
            <a:r>
              <a:rPr sz="1000" b="1">
                <a:solidFill>
                  <a:srgbClr val="F5C518"/>
                </a:solidFill>
                <a:latin typeface="Arial"/>
              </a:rPr>
              <a:t>POWERED BY HISENSE</a:t>
            </a:r>
          </a:p>
        </p:txBody>
      </p:sp>
      <p:sp>
        <p:nvSpPr>
          <p:cNvPr id="12" name="Rounded Rectangle 11"/>
          <p:cNvSpPr/>
          <p:nvPr/>
        </p:nvSpPr>
        <p:spPr>
          <a:xfrm>
            <a:off x="8920885" y="5303520"/>
            <a:ext cx="2121408"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20885" y="5303520"/>
            <a:ext cx="2121408" cy="365760"/>
          </a:xfrm>
          <a:prstGeom prst="rect">
            <a:avLst/>
          </a:prstGeom>
          <a:noFill/>
        </p:spPr>
        <p:txBody>
          <a:bodyPr wrap="square" anchor="ctr" lIns="0" rIns="0" tIns="0" bIns="0">
            <a:spAutoFit/>
          </a:bodyPr>
          <a:lstStyle/>
          <a:p>
            <a:pPr algn="ctr"/>
            <a:r>
              <a:rPr sz="1000" b="1">
                <a:solidFill>
                  <a:srgbClr val="F5C518"/>
                </a:solidFill>
                <a:latin typeface="Arial"/>
              </a:rPr>
              <a:t>LINKEDIN + INSTAGRAM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Rectangle 1"/>
          <p:cNvSpPr/>
          <p:nvPr/>
        </p:nvSpPr>
        <p:spPr>
          <a:xfrm>
            <a:off x="685800" y="566928"/>
            <a:ext cx="384048" cy="54864"/>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457200"/>
            <a:ext cx="8229600" cy="274320"/>
          </a:xfrm>
          <a:prstGeom prst="rect">
            <a:avLst/>
          </a:prstGeom>
          <a:noFill/>
        </p:spPr>
        <p:txBody>
          <a:bodyPr wrap="square" anchor="t" lIns="0" rIns="0" tIns="0" bIns="0">
            <a:spAutoFit/>
          </a:bodyPr>
          <a:lstStyle/>
          <a:p>
            <a:pPr algn="l"/>
            <a:r>
              <a:rPr sz="1100" b="1" spc="300">
                <a:solidFill>
                  <a:srgbClr val="F5C518"/>
                </a:solidFill>
                <a:latin typeface="Arial"/>
              </a:rPr>
              <a:t>THE STRATEGIC SHIFT</a:t>
            </a:r>
          </a:p>
        </p:txBody>
      </p:sp>
      <p:sp>
        <p:nvSpPr>
          <p:cNvPr id="4" name="TextBox 3"/>
          <p:cNvSpPr txBox="1"/>
          <p:nvPr/>
        </p:nvSpPr>
        <p:spPr>
          <a:xfrm>
            <a:off x="685800" y="868680"/>
            <a:ext cx="10820095" cy="731520"/>
          </a:xfrm>
          <a:prstGeom prst="rect">
            <a:avLst/>
          </a:prstGeom>
          <a:noFill/>
        </p:spPr>
        <p:txBody>
          <a:bodyPr wrap="square" anchor="t" lIns="0" rIns="0" tIns="0" bIns="0">
            <a:spAutoFit/>
          </a:bodyPr>
          <a:lstStyle/>
          <a:p>
            <a:pPr algn="l"/>
            <a:r>
              <a:rPr sz="3200" b="0">
                <a:solidFill>
                  <a:srgbClr val="FFFFFF"/>
                </a:solidFill>
                <a:latin typeface="Arial Black"/>
              </a:rPr>
              <a:t>From Hardware Specs to Living Room Culture.</a:t>
            </a:r>
          </a:p>
        </p:txBody>
      </p:sp>
      <p:sp>
        <p:nvSpPr>
          <p:cNvPr id="5" name="TextBox 4"/>
          <p:cNvSpPr txBox="1"/>
          <p:nvPr/>
        </p:nvSpPr>
        <p:spPr>
          <a:xfrm>
            <a:off x="685800" y="1645920"/>
            <a:ext cx="10820095" cy="411480"/>
          </a:xfrm>
          <a:prstGeom prst="rect">
            <a:avLst/>
          </a:prstGeom>
          <a:noFill/>
        </p:spPr>
        <p:txBody>
          <a:bodyPr wrap="square" anchor="t" lIns="0" rIns="0" tIns="0" bIns="0">
            <a:spAutoFit/>
          </a:bodyPr>
          <a:lstStyle/>
          <a:p>
            <a:pPr algn="l"/>
            <a:r>
              <a:rPr sz="1700" b="0">
                <a:solidFill>
                  <a:srgbClr val="A0A0A0"/>
                </a:solidFill>
                <a:latin typeface="Arial"/>
              </a:rPr>
              <a:t>People don't follow processors. They follow culture.</a:t>
            </a:r>
          </a:p>
        </p:txBody>
      </p:sp>
      <p:sp>
        <p:nvSpPr>
          <p:cNvPr id="6" name="TextBox 5"/>
          <p:cNvSpPr txBox="1"/>
          <p:nvPr/>
        </p:nvSpPr>
        <p:spPr>
          <a:xfrm>
            <a:off x="685800" y="6400800"/>
            <a:ext cx="5486400" cy="228600"/>
          </a:xfrm>
          <a:prstGeom prst="rect">
            <a:avLst/>
          </a:prstGeom>
          <a:noFill/>
        </p:spPr>
        <p:txBody>
          <a:bodyPr wrap="square" anchor="t" lIns="0" rIns="0" tIns="0" bIns="0">
            <a:spAutoFit/>
          </a:bodyPr>
          <a:lstStyle/>
          <a:p>
            <a:pPr algn="l"/>
            <a:r>
              <a:rPr sz="900" b="1" spc="200">
                <a:solidFill>
                  <a:srgbClr val="5E5E62"/>
                </a:solidFill>
                <a:latin typeface="Arial"/>
              </a:rPr>
              <a:t>V  |  SOCIAL STRATEGY 2026-2027</a:t>
            </a:r>
          </a:p>
        </p:txBody>
      </p:sp>
      <p:sp>
        <p:nvSpPr>
          <p:cNvPr id="7" name="TextBox 6"/>
          <p:cNvSpPr txBox="1"/>
          <p:nvPr/>
        </p:nvSpPr>
        <p:spPr>
          <a:xfrm>
            <a:off x="10591495" y="6400800"/>
            <a:ext cx="914400" cy="228600"/>
          </a:xfrm>
          <a:prstGeom prst="rect">
            <a:avLst/>
          </a:prstGeom>
          <a:noFill/>
        </p:spPr>
        <p:txBody>
          <a:bodyPr wrap="square" anchor="t" lIns="0" rIns="0" tIns="0" bIns="0">
            <a:spAutoFit/>
          </a:bodyPr>
          <a:lstStyle/>
          <a:p>
            <a:pPr algn="r"/>
            <a:r>
              <a:rPr sz="900" b="1" spc="200">
                <a:solidFill>
                  <a:srgbClr val="5E5E62"/>
                </a:solidFill>
                <a:latin typeface="Arial"/>
              </a:rPr>
              <a:t>02 / 07</a:t>
            </a:r>
          </a:p>
        </p:txBody>
      </p:sp>
      <p:sp>
        <p:nvSpPr>
          <p:cNvPr id="8" name="Rounded Rectangle 7"/>
          <p:cNvSpPr/>
          <p:nvPr/>
        </p:nvSpPr>
        <p:spPr>
          <a:xfrm>
            <a:off x="685800" y="2423160"/>
            <a:ext cx="4983480" cy="2788920"/>
          </a:xfrm>
          <a:prstGeom prst="roundRect">
            <a:avLst>
              <a:gd name="adj" fmla="val 6000"/>
            </a:avLst>
          </a:prstGeom>
          <a:solidFill>
            <a:srgbClr val="16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743200"/>
            <a:ext cx="3657600" cy="274320"/>
          </a:xfrm>
          <a:prstGeom prst="rect">
            <a:avLst/>
          </a:prstGeom>
          <a:noFill/>
        </p:spPr>
        <p:txBody>
          <a:bodyPr wrap="square" anchor="t" lIns="0" rIns="0" tIns="0" bIns="0">
            <a:spAutoFit/>
          </a:bodyPr>
          <a:lstStyle/>
          <a:p>
            <a:pPr algn="l"/>
            <a:r>
              <a:rPr sz="1100" b="1" spc="300">
                <a:solidFill>
                  <a:srgbClr val="5E5E62"/>
                </a:solidFill>
                <a:latin typeface="Arial"/>
              </a:rPr>
              <a:t>THE TRAP</a:t>
            </a:r>
          </a:p>
        </p:txBody>
      </p:sp>
      <p:sp>
        <p:nvSpPr>
          <p:cNvPr id="10" name="TextBox 9"/>
          <p:cNvSpPr txBox="1"/>
          <p:nvPr/>
        </p:nvSpPr>
        <p:spPr>
          <a:xfrm>
            <a:off x="1051560" y="3063240"/>
            <a:ext cx="4389120" cy="457200"/>
          </a:xfrm>
          <a:prstGeom prst="rect">
            <a:avLst/>
          </a:prstGeom>
          <a:noFill/>
        </p:spPr>
        <p:txBody>
          <a:bodyPr wrap="square" anchor="t" lIns="0" rIns="0" tIns="0" bIns="0">
            <a:spAutoFit/>
          </a:bodyPr>
          <a:lstStyle/>
          <a:p>
            <a:pPr algn="l"/>
            <a:r>
              <a:rPr sz="2000" b="0">
                <a:solidFill>
                  <a:srgbClr val="A0A0A0"/>
                </a:solidFill>
                <a:latin typeface="Arial Black"/>
              </a:rPr>
              <a:t>Samsung Tizen  |  LG webOS</a:t>
            </a:r>
          </a:p>
        </p:txBody>
      </p:sp>
      <p:sp>
        <p:nvSpPr>
          <p:cNvPr id="11" name="Rounded Rectangle 10"/>
          <p:cNvSpPr/>
          <p:nvPr/>
        </p:nvSpPr>
        <p:spPr>
          <a:xfrm>
            <a:off x="1051560" y="3749040"/>
            <a:ext cx="1314907" cy="365760"/>
          </a:xfrm>
          <a:prstGeom prst="roundRect">
            <a:avLst>
              <a:gd name="adj" fmla="val 50000"/>
            </a:avLst>
          </a:prstGeom>
          <a:noFill/>
          <a:ln w="15875">
            <a:solidFill>
              <a:srgbClr val="5E5E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749040"/>
            <a:ext cx="1314907" cy="365760"/>
          </a:xfrm>
          <a:prstGeom prst="rect">
            <a:avLst/>
          </a:prstGeom>
          <a:noFill/>
        </p:spPr>
        <p:txBody>
          <a:bodyPr wrap="square" anchor="ctr" lIns="0" rIns="0" tIns="0" bIns="0">
            <a:spAutoFit/>
          </a:bodyPr>
          <a:lstStyle/>
          <a:p>
            <a:pPr algn="ctr"/>
            <a:r>
              <a:rPr sz="1000" b="1">
                <a:solidFill>
                  <a:srgbClr val="A0A0A0"/>
                </a:solidFill>
                <a:latin typeface="Arial"/>
              </a:rPr>
              <a:t>SPEC SHEETS</a:t>
            </a:r>
          </a:p>
        </p:txBody>
      </p:sp>
      <p:sp>
        <p:nvSpPr>
          <p:cNvPr id="13" name="Rounded Rectangle 12"/>
          <p:cNvSpPr/>
          <p:nvPr/>
        </p:nvSpPr>
        <p:spPr>
          <a:xfrm>
            <a:off x="2503627" y="3749040"/>
            <a:ext cx="1225295" cy="365760"/>
          </a:xfrm>
          <a:prstGeom prst="roundRect">
            <a:avLst>
              <a:gd name="adj" fmla="val 50000"/>
            </a:avLst>
          </a:prstGeom>
          <a:noFill/>
          <a:ln w="15875">
            <a:solidFill>
              <a:srgbClr val="5E5E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03627" y="3749040"/>
            <a:ext cx="1225295" cy="365760"/>
          </a:xfrm>
          <a:prstGeom prst="rect">
            <a:avLst/>
          </a:prstGeom>
          <a:noFill/>
        </p:spPr>
        <p:txBody>
          <a:bodyPr wrap="square" anchor="ctr" lIns="0" rIns="0" tIns="0" bIns="0">
            <a:spAutoFit/>
          </a:bodyPr>
          <a:lstStyle/>
          <a:p>
            <a:pPr algn="ctr"/>
            <a:r>
              <a:rPr sz="1000" b="1">
                <a:solidFill>
                  <a:srgbClr val="A0A0A0"/>
                </a:solidFill>
                <a:latin typeface="Arial"/>
              </a:rPr>
              <a:t>PROCESSORS</a:t>
            </a:r>
          </a:p>
        </p:txBody>
      </p:sp>
      <p:sp>
        <p:nvSpPr>
          <p:cNvPr id="15" name="Rounded Rectangle 14"/>
          <p:cNvSpPr/>
          <p:nvPr/>
        </p:nvSpPr>
        <p:spPr>
          <a:xfrm>
            <a:off x="3866082" y="3749040"/>
            <a:ext cx="1046073" cy="365760"/>
          </a:xfrm>
          <a:prstGeom prst="roundRect">
            <a:avLst>
              <a:gd name="adj" fmla="val 50000"/>
            </a:avLst>
          </a:prstGeom>
          <a:noFill/>
          <a:ln w="15875">
            <a:solidFill>
              <a:srgbClr val="5E5E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66082" y="3749040"/>
            <a:ext cx="1046073" cy="365760"/>
          </a:xfrm>
          <a:prstGeom prst="rect">
            <a:avLst/>
          </a:prstGeom>
          <a:noFill/>
        </p:spPr>
        <p:txBody>
          <a:bodyPr wrap="square" anchor="ctr" lIns="0" rIns="0" tIns="0" bIns="0">
            <a:spAutoFit/>
          </a:bodyPr>
          <a:lstStyle/>
          <a:p>
            <a:pPr algn="ctr"/>
            <a:r>
              <a:rPr sz="1000" b="1">
                <a:solidFill>
                  <a:srgbClr val="A0A0A0"/>
                </a:solidFill>
                <a:latin typeface="Arial"/>
              </a:rPr>
              <a:t>AI CHIPS</a:t>
            </a:r>
          </a:p>
        </p:txBody>
      </p:sp>
      <p:sp>
        <p:nvSpPr>
          <p:cNvPr id="17" name="TextBox 16"/>
          <p:cNvSpPr txBox="1"/>
          <p:nvPr/>
        </p:nvSpPr>
        <p:spPr>
          <a:xfrm>
            <a:off x="1051560" y="4389120"/>
            <a:ext cx="4389120" cy="548640"/>
          </a:xfrm>
          <a:prstGeom prst="rect">
            <a:avLst/>
          </a:prstGeom>
          <a:noFill/>
        </p:spPr>
        <p:txBody>
          <a:bodyPr wrap="square" anchor="t" lIns="0" rIns="0" tIns="0" bIns="0">
            <a:spAutoFit/>
          </a:bodyPr>
          <a:lstStyle/>
          <a:p>
            <a:pPr algn="l"/>
            <a:r>
              <a:rPr sz="1500" b="0">
                <a:solidFill>
                  <a:srgbClr val="5E5E62"/>
                </a:solidFill>
                <a:latin typeface="Arial"/>
              </a:rPr>
              <a:t>Social as a cold hardware manual.</a:t>
            </a:r>
          </a:p>
          <a:p>
            <a:pPr algn="l"/>
            <a:r>
              <a:rPr sz="1500" b="0">
                <a:solidFill>
                  <a:srgbClr val="5E5E62"/>
                </a:solidFill>
                <a:latin typeface="Arial"/>
              </a:rPr>
              <a:t>Zero emotional pull.</a:t>
            </a:r>
          </a:p>
        </p:txBody>
      </p:sp>
      <p:sp>
        <p:nvSpPr>
          <p:cNvPr id="18" name="Right Arrow 17"/>
          <p:cNvSpPr/>
          <p:nvPr/>
        </p:nvSpPr>
        <p:spPr>
          <a:xfrm>
            <a:off x="5833872" y="3497580"/>
            <a:ext cx="685800" cy="640080"/>
          </a:xfrm>
          <a:prstGeom prst="rightArrow">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684264" y="2423160"/>
            <a:ext cx="4983480" cy="2788920"/>
          </a:xfrm>
          <a:prstGeom prst="roundRect">
            <a:avLst>
              <a:gd name="adj" fmla="val 6000"/>
            </a:avLst>
          </a:prstGeom>
          <a:solidFill>
            <a:srgbClr val="1E1E21"/>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50024" y="2743200"/>
            <a:ext cx="3657600" cy="274320"/>
          </a:xfrm>
          <a:prstGeom prst="rect">
            <a:avLst/>
          </a:prstGeom>
          <a:noFill/>
        </p:spPr>
        <p:txBody>
          <a:bodyPr wrap="square" anchor="t" lIns="0" rIns="0" tIns="0" bIns="0">
            <a:spAutoFit/>
          </a:bodyPr>
          <a:lstStyle/>
          <a:p>
            <a:pPr algn="l"/>
            <a:r>
              <a:rPr sz="1100" b="1" spc="300">
                <a:solidFill>
                  <a:srgbClr val="F5C518"/>
                </a:solidFill>
                <a:latin typeface="Arial"/>
              </a:rPr>
              <a:t>THE PLAY</a:t>
            </a:r>
          </a:p>
        </p:txBody>
      </p:sp>
      <p:sp>
        <p:nvSpPr>
          <p:cNvPr id="21" name="TextBox 20"/>
          <p:cNvSpPr txBox="1"/>
          <p:nvPr/>
        </p:nvSpPr>
        <p:spPr>
          <a:xfrm>
            <a:off x="7050024" y="3063240"/>
            <a:ext cx="4389120" cy="457200"/>
          </a:xfrm>
          <a:prstGeom prst="rect">
            <a:avLst/>
          </a:prstGeom>
          <a:noFill/>
        </p:spPr>
        <p:txBody>
          <a:bodyPr wrap="square" anchor="t" lIns="0" rIns="0" tIns="0" bIns="0">
            <a:spAutoFit/>
          </a:bodyPr>
          <a:lstStyle/>
          <a:p>
            <a:pPr algn="l"/>
            <a:r>
              <a:rPr sz="2400" b="0">
                <a:solidFill>
                  <a:srgbClr val="FFFFFF"/>
                </a:solidFill>
                <a:latin typeface="Arial Black"/>
              </a:rPr>
              <a:t>Roku City</a:t>
            </a:r>
          </a:p>
        </p:txBody>
      </p:sp>
      <p:sp>
        <p:nvSpPr>
          <p:cNvPr id="22" name="TextBox 21"/>
          <p:cNvSpPr txBox="1"/>
          <p:nvPr/>
        </p:nvSpPr>
        <p:spPr>
          <a:xfrm>
            <a:off x="7050024" y="3611880"/>
            <a:ext cx="4389120" cy="548640"/>
          </a:xfrm>
          <a:prstGeom prst="rect">
            <a:avLst/>
          </a:prstGeom>
          <a:noFill/>
        </p:spPr>
        <p:txBody>
          <a:bodyPr wrap="square" anchor="t" lIns="0" rIns="0" tIns="0" bIns="0">
            <a:spAutoFit/>
          </a:bodyPr>
          <a:lstStyle/>
          <a:p>
            <a:pPr algn="l"/>
            <a:r>
              <a:rPr sz="1500" b="0">
                <a:solidFill>
                  <a:srgbClr val="FFFFFF"/>
                </a:solidFill>
                <a:latin typeface="Arial"/>
              </a:rPr>
              <a:t>A screen saver turned into a pop-culture icon with millions of fans.</a:t>
            </a:r>
          </a:p>
        </p:txBody>
      </p:sp>
      <p:sp>
        <p:nvSpPr>
          <p:cNvPr id="23" name="TextBox 22"/>
          <p:cNvSpPr txBox="1"/>
          <p:nvPr/>
        </p:nvSpPr>
        <p:spPr>
          <a:xfrm>
            <a:off x="7050024" y="4389120"/>
            <a:ext cx="4389120" cy="548640"/>
          </a:xfrm>
          <a:prstGeom prst="rect">
            <a:avLst/>
          </a:prstGeom>
          <a:noFill/>
        </p:spPr>
        <p:txBody>
          <a:bodyPr wrap="square" anchor="t" lIns="0" rIns="0" tIns="0" bIns="0">
            <a:spAutoFit/>
          </a:bodyPr>
          <a:lstStyle/>
          <a:p>
            <a:pPr algn="l"/>
            <a:r>
              <a:rPr sz="1500" b="0">
                <a:solidFill>
                  <a:srgbClr val="A0A0A0"/>
                </a:solidFill>
                <a:latin typeface="Arial"/>
              </a:rPr>
              <a:t>Apple &amp; Starbucks: everyday users as uncurated ambassadors.</a:t>
            </a:r>
          </a:p>
        </p:txBody>
      </p:sp>
      <p:sp>
        <p:nvSpPr>
          <p:cNvPr id="24" name="Rounded Rectangle 23"/>
          <p:cNvSpPr/>
          <p:nvPr/>
        </p:nvSpPr>
        <p:spPr>
          <a:xfrm>
            <a:off x="685800" y="5486400"/>
            <a:ext cx="10820095" cy="566928"/>
          </a:xfrm>
          <a:prstGeom prst="roundRect">
            <a:avLst>
              <a:gd name="adj" fmla="val 20000"/>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20095" cy="566928"/>
          </a:xfrm>
          <a:prstGeom prst="rect">
            <a:avLst/>
          </a:prstGeom>
          <a:noFill/>
        </p:spPr>
        <p:txBody>
          <a:bodyPr wrap="square" anchor="ctr" lIns="0" rIns="0" tIns="0" bIns="0">
            <a:spAutoFit/>
          </a:bodyPr>
          <a:lstStyle/>
          <a:p>
            <a:pPr algn="ctr"/>
            <a:r>
              <a:rPr sz="1500" b="0">
                <a:solidFill>
                  <a:srgbClr val="0B0B0C"/>
                </a:solidFill>
                <a:latin typeface="Arial Black"/>
              </a:rPr>
              <a:t>V'S MOVE:  OWN THE LIVING ROOM, NOT THE SPEC SHEET.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Rectangle 1"/>
          <p:cNvSpPr/>
          <p:nvPr/>
        </p:nvSpPr>
        <p:spPr>
          <a:xfrm>
            <a:off x="685800" y="566928"/>
            <a:ext cx="384048" cy="54864"/>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457200"/>
            <a:ext cx="8229600" cy="274320"/>
          </a:xfrm>
          <a:prstGeom prst="rect">
            <a:avLst/>
          </a:prstGeom>
          <a:noFill/>
        </p:spPr>
        <p:txBody>
          <a:bodyPr wrap="square" anchor="t" lIns="0" rIns="0" tIns="0" bIns="0">
            <a:spAutoFit/>
          </a:bodyPr>
          <a:lstStyle/>
          <a:p>
            <a:pPr algn="l"/>
            <a:r>
              <a:rPr sz="1100" b="1" spc="300">
                <a:solidFill>
                  <a:srgbClr val="F5C518"/>
                </a:solidFill>
                <a:latin typeface="Arial"/>
              </a:rPr>
              <a:t>THE ARCHITECTURE</a:t>
            </a:r>
          </a:p>
        </p:txBody>
      </p:sp>
      <p:sp>
        <p:nvSpPr>
          <p:cNvPr id="4" name="TextBox 3"/>
          <p:cNvSpPr txBox="1"/>
          <p:nvPr/>
        </p:nvSpPr>
        <p:spPr>
          <a:xfrm>
            <a:off x="685800" y="868680"/>
            <a:ext cx="10820095" cy="731520"/>
          </a:xfrm>
          <a:prstGeom prst="rect">
            <a:avLst/>
          </a:prstGeom>
          <a:noFill/>
        </p:spPr>
        <p:txBody>
          <a:bodyPr wrap="square" anchor="t" lIns="0" rIns="0" tIns="0" bIns="0">
            <a:spAutoFit/>
          </a:bodyPr>
          <a:lstStyle/>
          <a:p>
            <a:pPr algn="l"/>
            <a:r>
              <a:rPr sz="3200" b="0">
                <a:solidFill>
                  <a:srgbClr val="FFFFFF"/>
                </a:solidFill>
                <a:latin typeface="Arial Black"/>
              </a:rPr>
              <a:t>Two Platforms. Two Growth Engines.</a:t>
            </a:r>
          </a:p>
        </p:txBody>
      </p:sp>
      <p:sp>
        <p:nvSpPr>
          <p:cNvPr id="5" name="TextBox 4"/>
          <p:cNvSpPr txBox="1"/>
          <p:nvPr/>
        </p:nvSpPr>
        <p:spPr>
          <a:xfrm>
            <a:off x="685800" y="1645920"/>
            <a:ext cx="10820095" cy="411480"/>
          </a:xfrm>
          <a:prstGeom prst="rect">
            <a:avLst/>
          </a:prstGeom>
          <a:noFill/>
        </p:spPr>
        <p:txBody>
          <a:bodyPr wrap="square" anchor="t" lIns="0" rIns="0" tIns="0" bIns="0">
            <a:spAutoFit/>
          </a:bodyPr>
          <a:lstStyle/>
          <a:p>
            <a:pPr algn="l"/>
            <a:r>
              <a:rPr sz="1700" b="0">
                <a:solidFill>
                  <a:srgbClr val="A0A0A0"/>
                </a:solidFill>
                <a:latin typeface="Arial"/>
              </a:rPr>
              <a:t>LinkedIn wins the market. Instagram wins the living room.</a:t>
            </a:r>
          </a:p>
        </p:txBody>
      </p:sp>
      <p:sp>
        <p:nvSpPr>
          <p:cNvPr id="6" name="TextBox 5"/>
          <p:cNvSpPr txBox="1"/>
          <p:nvPr/>
        </p:nvSpPr>
        <p:spPr>
          <a:xfrm>
            <a:off x="685800" y="6400800"/>
            <a:ext cx="5486400" cy="228600"/>
          </a:xfrm>
          <a:prstGeom prst="rect">
            <a:avLst/>
          </a:prstGeom>
          <a:noFill/>
        </p:spPr>
        <p:txBody>
          <a:bodyPr wrap="square" anchor="t" lIns="0" rIns="0" tIns="0" bIns="0">
            <a:spAutoFit/>
          </a:bodyPr>
          <a:lstStyle/>
          <a:p>
            <a:pPr algn="l"/>
            <a:r>
              <a:rPr sz="900" b="1" spc="200">
                <a:solidFill>
                  <a:srgbClr val="5E5E62"/>
                </a:solidFill>
                <a:latin typeface="Arial"/>
              </a:rPr>
              <a:t>V  |  SOCIAL STRATEGY 2026-2027</a:t>
            </a:r>
          </a:p>
        </p:txBody>
      </p:sp>
      <p:sp>
        <p:nvSpPr>
          <p:cNvPr id="7" name="TextBox 6"/>
          <p:cNvSpPr txBox="1"/>
          <p:nvPr/>
        </p:nvSpPr>
        <p:spPr>
          <a:xfrm>
            <a:off x="10591495" y="6400800"/>
            <a:ext cx="914400" cy="228600"/>
          </a:xfrm>
          <a:prstGeom prst="rect">
            <a:avLst/>
          </a:prstGeom>
          <a:noFill/>
        </p:spPr>
        <p:txBody>
          <a:bodyPr wrap="square" anchor="t" lIns="0" rIns="0" tIns="0" bIns="0">
            <a:spAutoFit/>
          </a:bodyPr>
          <a:lstStyle/>
          <a:p>
            <a:pPr algn="r"/>
            <a:r>
              <a:rPr sz="900" b="1" spc="200">
                <a:solidFill>
                  <a:srgbClr val="5E5E62"/>
                </a:solidFill>
                <a:latin typeface="Arial"/>
              </a:rPr>
              <a:t>03 / 07</a:t>
            </a:r>
          </a:p>
        </p:txBody>
      </p:sp>
      <p:sp>
        <p:nvSpPr>
          <p:cNvPr id="8" name="Rounded Rectangle 7"/>
          <p:cNvSpPr/>
          <p:nvPr/>
        </p:nvSpPr>
        <p:spPr>
          <a:xfrm>
            <a:off x="685800" y="2377440"/>
            <a:ext cx="5181447" cy="3429000"/>
          </a:xfrm>
          <a:prstGeom prst="roundRect">
            <a:avLst>
              <a:gd name="adj" fmla="val 6000"/>
            </a:avLst>
          </a:prstGeom>
          <a:solidFill>
            <a:srgbClr val="16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7280" y="2743200"/>
            <a:ext cx="624900" cy="365760"/>
          </a:xfrm>
          <a:prstGeom prst="roundRect">
            <a:avLst>
              <a:gd name="adj" fmla="val 50000"/>
            </a:avLst>
          </a:prstGeom>
          <a:solidFill>
            <a:srgbClr val="F5C518"/>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743200"/>
            <a:ext cx="624900" cy="365760"/>
          </a:xfrm>
          <a:prstGeom prst="rect">
            <a:avLst/>
          </a:prstGeom>
          <a:noFill/>
        </p:spPr>
        <p:txBody>
          <a:bodyPr wrap="square" anchor="ctr" lIns="0" rIns="0" tIns="0" bIns="0">
            <a:spAutoFit/>
          </a:bodyPr>
          <a:lstStyle/>
          <a:p>
            <a:pPr algn="ctr"/>
            <a:r>
              <a:rPr sz="1100" b="1">
                <a:solidFill>
                  <a:srgbClr val="0B0B0C"/>
                </a:solidFill>
                <a:latin typeface="Arial"/>
              </a:rPr>
              <a:t>B2B</a:t>
            </a:r>
          </a:p>
        </p:txBody>
      </p:sp>
      <p:sp>
        <p:nvSpPr>
          <p:cNvPr id="11" name="TextBox 10"/>
          <p:cNvSpPr txBox="1"/>
          <p:nvPr/>
        </p:nvSpPr>
        <p:spPr>
          <a:xfrm>
            <a:off x="1097280" y="3291840"/>
            <a:ext cx="5181447" cy="640080"/>
          </a:xfrm>
          <a:prstGeom prst="rect">
            <a:avLst/>
          </a:prstGeom>
          <a:noFill/>
        </p:spPr>
        <p:txBody>
          <a:bodyPr wrap="square" anchor="t" lIns="0" rIns="0" tIns="0" bIns="0">
            <a:spAutoFit/>
          </a:bodyPr>
          <a:lstStyle/>
          <a:p>
            <a:pPr algn="l"/>
            <a:r>
              <a:rPr sz="3400" b="0">
                <a:solidFill>
                  <a:srgbClr val="FFFFFF"/>
                </a:solidFill>
                <a:latin typeface="Arial Black"/>
              </a:rPr>
              <a:t>LinkedIn</a:t>
            </a:r>
          </a:p>
        </p:txBody>
      </p:sp>
      <p:sp>
        <p:nvSpPr>
          <p:cNvPr id="12" name="TextBox 11"/>
          <p:cNvSpPr txBox="1"/>
          <p:nvPr/>
        </p:nvSpPr>
        <p:spPr>
          <a:xfrm>
            <a:off x="1097280" y="3931920"/>
            <a:ext cx="5181447" cy="365760"/>
          </a:xfrm>
          <a:prstGeom prst="rect">
            <a:avLst/>
          </a:prstGeom>
          <a:noFill/>
        </p:spPr>
        <p:txBody>
          <a:bodyPr wrap="square" anchor="t" lIns="0" rIns="0" tIns="0" bIns="0">
            <a:spAutoFit/>
          </a:bodyPr>
          <a:lstStyle/>
          <a:p>
            <a:pPr algn="l"/>
            <a:r>
              <a:rPr sz="1800" b="1">
                <a:solidFill>
                  <a:srgbClr val="A0A0A0"/>
                </a:solidFill>
                <a:latin typeface="Arial"/>
              </a:rPr>
              <a:t>Market Authority</a:t>
            </a:r>
          </a:p>
        </p:txBody>
      </p:sp>
      <p:sp>
        <p:nvSpPr>
          <p:cNvPr id="13" name="Rounded Rectangle 12"/>
          <p:cNvSpPr/>
          <p:nvPr/>
        </p:nvSpPr>
        <p:spPr>
          <a:xfrm>
            <a:off x="1097280" y="4526280"/>
            <a:ext cx="651784" cy="310896"/>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526280"/>
            <a:ext cx="651784" cy="310896"/>
          </a:xfrm>
          <a:prstGeom prst="rect">
            <a:avLst/>
          </a:prstGeom>
          <a:noFill/>
        </p:spPr>
        <p:txBody>
          <a:bodyPr wrap="square" anchor="ctr" lIns="0" rIns="0" tIns="0" bIns="0">
            <a:spAutoFit/>
          </a:bodyPr>
          <a:lstStyle/>
          <a:p>
            <a:pPr algn="ctr"/>
            <a:r>
              <a:rPr sz="900" b="1">
                <a:solidFill>
                  <a:srgbClr val="F5C518"/>
                </a:solidFill>
                <a:latin typeface="Arial"/>
              </a:rPr>
              <a:t>OEMs</a:t>
            </a:r>
          </a:p>
        </p:txBody>
      </p:sp>
      <p:sp>
        <p:nvSpPr>
          <p:cNvPr id="15" name="Rounded Rectangle 14"/>
          <p:cNvSpPr/>
          <p:nvPr/>
        </p:nvSpPr>
        <p:spPr>
          <a:xfrm>
            <a:off x="1840504" y="4526280"/>
            <a:ext cx="974384" cy="310896"/>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40504" y="4526280"/>
            <a:ext cx="974384" cy="310896"/>
          </a:xfrm>
          <a:prstGeom prst="rect">
            <a:avLst/>
          </a:prstGeom>
          <a:noFill/>
        </p:spPr>
        <p:txBody>
          <a:bodyPr wrap="square" anchor="ctr" lIns="0" rIns="0" tIns="0" bIns="0">
            <a:spAutoFit/>
          </a:bodyPr>
          <a:lstStyle/>
          <a:p>
            <a:pPr algn="ctr"/>
            <a:r>
              <a:rPr sz="900" b="1">
                <a:solidFill>
                  <a:srgbClr val="F5C518"/>
                </a:solidFill>
                <a:latin typeface="Arial"/>
              </a:rPr>
              <a:t>HARDWARE</a:t>
            </a:r>
          </a:p>
        </p:txBody>
      </p:sp>
      <p:sp>
        <p:nvSpPr>
          <p:cNvPr id="17" name="Rounded Rectangle 16"/>
          <p:cNvSpPr/>
          <p:nvPr/>
        </p:nvSpPr>
        <p:spPr>
          <a:xfrm>
            <a:off x="2906328" y="4526280"/>
            <a:ext cx="1296984" cy="310896"/>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6328" y="4526280"/>
            <a:ext cx="1296984" cy="310896"/>
          </a:xfrm>
          <a:prstGeom prst="rect">
            <a:avLst/>
          </a:prstGeom>
          <a:noFill/>
        </p:spPr>
        <p:txBody>
          <a:bodyPr wrap="square" anchor="ctr" lIns="0" rIns="0" tIns="0" bIns="0">
            <a:spAutoFit/>
          </a:bodyPr>
          <a:lstStyle/>
          <a:p>
            <a:pPr algn="ctr"/>
            <a:r>
              <a:rPr sz="900" b="1">
                <a:solidFill>
                  <a:srgbClr val="F5C518"/>
                </a:solidFill>
                <a:latin typeface="Arial"/>
              </a:rPr>
              <a:t>CONTENT APPS</a:t>
            </a:r>
          </a:p>
        </p:txBody>
      </p:sp>
      <p:sp>
        <p:nvSpPr>
          <p:cNvPr id="19" name="Rounded Rectangle 18"/>
          <p:cNvSpPr/>
          <p:nvPr/>
        </p:nvSpPr>
        <p:spPr>
          <a:xfrm>
            <a:off x="4294752" y="4526280"/>
            <a:ext cx="1216334" cy="310896"/>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4752" y="4526280"/>
            <a:ext cx="1216334" cy="310896"/>
          </a:xfrm>
          <a:prstGeom prst="rect">
            <a:avLst/>
          </a:prstGeom>
          <a:noFill/>
        </p:spPr>
        <p:txBody>
          <a:bodyPr wrap="square" anchor="ctr" lIns="0" rIns="0" tIns="0" bIns="0">
            <a:spAutoFit/>
          </a:bodyPr>
          <a:lstStyle/>
          <a:p>
            <a:pPr algn="ctr"/>
            <a:r>
              <a:rPr sz="900" b="1">
                <a:solidFill>
                  <a:srgbClr val="F5C518"/>
                </a:solidFill>
                <a:latin typeface="Arial"/>
              </a:rPr>
              <a:t>ADVERTISERS</a:t>
            </a:r>
          </a:p>
        </p:txBody>
      </p:sp>
      <p:sp>
        <p:nvSpPr>
          <p:cNvPr id="21" name="Rectangle 20"/>
          <p:cNvSpPr/>
          <p:nvPr/>
        </p:nvSpPr>
        <p:spPr>
          <a:xfrm>
            <a:off x="1097280" y="5120640"/>
            <a:ext cx="457200" cy="4572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230368"/>
            <a:ext cx="5181447" cy="365760"/>
          </a:xfrm>
          <a:prstGeom prst="rect">
            <a:avLst/>
          </a:prstGeom>
          <a:noFill/>
        </p:spPr>
        <p:txBody>
          <a:bodyPr wrap="square" anchor="t" lIns="0" rIns="0" tIns="0" bIns="0">
            <a:spAutoFit/>
          </a:bodyPr>
          <a:lstStyle/>
          <a:p>
            <a:pPr algn="l"/>
            <a:r>
              <a:rPr sz="1300" b="1">
                <a:solidFill>
                  <a:srgbClr val="FFFFFF"/>
                </a:solidFill>
                <a:latin typeface="Arial"/>
              </a:rPr>
              <a:t>OUTCOME:  Deals, partners, ad revenue</a:t>
            </a:r>
          </a:p>
        </p:txBody>
      </p:sp>
      <p:sp>
        <p:nvSpPr>
          <p:cNvPr id="23" name="Rounded Rectangle 22"/>
          <p:cNvSpPr/>
          <p:nvPr/>
        </p:nvSpPr>
        <p:spPr>
          <a:xfrm>
            <a:off x="6324447" y="2377440"/>
            <a:ext cx="5181447" cy="3429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735927" y="2743200"/>
            <a:ext cx="624900" cy="365760"/>
          </a:xfrm>
          <a:prstGeom prst="roundRect">
            <a:avLst>
              <a:gd name="adj" fmla="val 50000"/>
            </a:avLst>
          </a:prstGeom>
          <a:solidFill>
            <a:srgbClr val="F5C518"/>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35927" y="2743200"/>
            <a:ext cx="624900" cy="365760"/>
          </a:xfrm>
          <a:prstGeom prst="rect">
            <a:avLst/>
          </a:prstGeom>
          <a:noFill/>
        </p:spPr>
        <p:txBody>
          <a:bodyPr wrap="square" anchor="ctr" lIns="0" rIns="0" tIns="0" bIns="0">
            <a:spAutoFit/>
          </a:bodyPr>
          <a:lstStyle/>
          <a:p>
            <a:pPr algn="ctr"/>
            <a:r>
              <a:rPr sz="1100" b="1">
                <a:solidFill>
                  <a:srgbClr val="0B0B0C"/>
                </a:solidFill>
                <a:latin typeface="Arial"/>
              </a:rPr>
              <a:t>B2C</a:t>
            </a:r>
          </a:p>
        </p:txBody>
      </p:sp>
      <p:sp>
        <p:nvSpPr>
          <p:cNvPr id="26" name="TextBox 25"/>
          <p:cNvSpPr txBox="1"/>
          <p:nvPr/>
        </p:nvSpPr>
        <p:spPr>
          <a:xfrm>
            <a:off x="6735927" y="3291840"/>
            <a:ext cx="5181447" cy="640080"/>
          </a:xfrm>
          <a:prstGeom prst="rect">
            <a:avLst/>
          </a:prstGeom>
          <a:noFill/>
        </p:spPr>
        <p:txBody>
          <a:bodyPr wrap="square" anchor="t" lIns="0" rIns="0" tIns="0" bIns="0">
            <a:spAutoFit/>
          </a:bodyPr>
          <a:lstStyle/>
          <a:p>
            <a:pPr algn="l"/>
            <a:r>
              <a:rPr sz="3400" b="0">
                <a:solidFill>
                  <a:srgbClr val="0B0B0C"/>
                </a:solidFill>
                <a:latin typeface="Arial Black"/>
              </a:rPr>
              <a:t>Instagram</a:t>
            </a:r>
          </a:p>
        </p:txBody>
      </p:sp>
      <p:sp>
        <p:nvSpPr>
          <p:cNvPr id="27" name="TextBox 26"/>
          <p:cNvSpPr txBox="1"/>
          <p:nvPr/>
        </p:nvSpPr>
        <p:spPr>
          <a:xfrm>
            <a:off x="6735927" y="3931920"/>
            <a:ext cx="5181447" cy="365760"/>
          </a:xfrm>
          <a:prstGeom prst="rect">
            <a:avLst/>
          </a:prstGeom>
          <a:noFill/>
        </p:spPr>
        <p:txBody>
          <a:bodyPr wrap="square" anchor="t" lIns="0" rIns="0" tIns="0" bIns="0">
            <a:spAutoFit/>
          </a:bodyPr>
          <a:lstStyle/>
          <a:p>
            <a:pPr algn="l"/>
            <a:r>
              <a:rPr sz="1800" b="1">
                <a:solidFill>
                  <a:srgbClr val="5E5E62"/>
                </a:solidFill>
                <a:latin typeface="Arial"/>
              </a:rPr>
              <a:t>Living Room Loyalty</a:t>
            </a:r>
          </a:p>
        </p:txBody>
      </p:sp>
      <p:sp>
        <p:nvSpPr>
          <p:cNvPr id="28" name="Rounded Rectangle 27"/>
          <p:cNvSpPr/>
          <p:nvPr/>
        </p:nvSpPr>
        <p:spPr>
          <a:xfrm>
            <a:off x="6735927" y="4526280"/>
            <a:ext cx="893734" cy="310896"/>
          </a:xfrm>
          <a:prstGeom prst="roundRect">
            <a:avLst>
              <a:gd name="adj" fmla="val 50000"/>
            </a:avLst>
          </a:prstGeom>
          <a:noFill/>
          <a:ln w="15875">
            <a:solidFill>
              <a:srgbClr val="0B0B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35927" y="4526280"/>
            <a:ext cx="893734" cy="310896"/>
          </a:xfrm>
          <a:prstGeom prst="rect">
            <a:avLst/>
          </a:prstGeom>
          <a:noFill/>
        </p:spPr>
        <p:txBody>
          <a:bodyPr wrap="square" anchor="ctr" lIns="0" rIns="0" tIns="0" bIns="0">
            <a:spAutoFit/>
          </a:bodyPr>
          <a:lstStyle/>
          <a:p>
            <a:pPr algn="ctr"/>
            <a:r>
              <a:rPr sz="900" b="1">
                <a:solidFill>
                  <a:srgbClr val="0B0B0C"/>
                </a:solidFill>
                <a:latin typeface="Arial"/>
              </a:rPr>
              <a:t>VIEWERS</a:t>
            </a:r>
          </a:p>
        </p:txBody>
      </p:sp>
      <p:sp>
        <p:nvSpPr>
          <p:cNvPr id="30" name="Rounded Rectangle 29"/>
          <p:cNvSpPr/>
          <p:nvPr/>
        </p:nvSpPr>
        <p:spPr>
          <a:xfrm>
            <a:off x="7721101" y="4526280"/>
            <a:ext cx="974384" cy="310896"/>
          </a:xfrm>
          <a:prstGeom prst="roundRect">
            <a:avLst>
              <a:gd name="adj" fmla="val 50000"/>
            </a:avLst>
          </a:prstGeom>
          <a:noFill/>
          <a:ln w="15875">
            <a:solidFill>
              <a:srgbClr val="0B0B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21101" y="4526280"/>
            <a:ext cx="974384" cy="310896"/>
          </a:xfrm>
          <a:prstGeom prst="rect">
            <a:avLst/>
          </a:prstGeom>
          <a:noFill/>
        </p:spPr>
        <p:txBody>
          <a:bodyPr wrap="square" anchor="ctr" lIns="0" rIns="0" tIns="0" bIns="0">
            <a:spAutoFit/>
          </a:bodyPr>
          <a:lstStyle/>
          <a:p>
            <a:pPr algn="ctr"/>
            <a:r>
              <a:rPr sz="900" b="1">
                <a:solidFill>
                  <a:srgbClr val="0B0B0C"/>
                </a:solidFill>
                <a:latin typeface="Arial"/>
              </a:rPr>
              <a:t>FAMILIES</a:t>
            </a:r>
          </a:p>
        </p:txBody>
      </p:sp>
      <p:sp>
        <p:nvSpPr>
          <p:cNvPr id="32" name="Rounded Rectangle 31"/>
          <p:cNvSpPr/>
          <p:nvPr/>
        </p:nvSpPr>
        <p:spPr>
          <a:xfrm>
            <a:off x="8786925" y="4526280"/>
            <a:ext cx="813084" cy="310896"/>
          </a:xfrm>
          <a:prstGeom prst="roundRect">
            <a:avLst>
              <a:gd name="adj" fmla="val 50000"/>
            </a:avLst>
          </a:prstGeom>
          <a:noFill/>
          <a:ln w="15875">
            <a:solidFill>
              <a:srgbClr val="0B0B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86925" y="4526280"/>
            <a:ext cx="813084" cy="310896"/>
          </a:xfrm>
          <a:prstGeom prst="rect">
            <a:avLst/>
          </a:prstGeom>
          <a:noFill/>
        </p:spPr>
        <p:txBody>
          <a:bodyPr wrap="square" anchor="ctr" lIns="0" rIns="0" tIns="0" bIns="0">
            <a:spAutoFit/>
          </a:bodyPr>
          <a:lstStyle/>
          <a:p>
            <a:pPr algn="ctr"/>
            <a:r>
              <a:rPr sz="900" b="1">
                <a:solidFill>
                  <a:srgbClr val="0B0B0C"/>
                </a:solidFill>
                <a:latin typeface="Arial"/>
              </a:rPr>
              <a:t>GAMERS</a:t>
            </a:r>
          </a:p>
        </p:txBody>
      </p:sp>
      <p:sp>
        <p:nvSpPr>
          <p:cNvPr id="34" name="Rectangle 33"/>
          <p:cNvSpPr/>
          <p:nvPr/>
        </p:nvSpPr>
        <p:spPr>
          <a:xfrm>
            <a:off x="6735927" y="5120640"/>
            <a:ext cx="457200" cy="4572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35927" y="5230368"/>
            <a:ext cx="5181447" cy="365760"/>
          </a:xfrm>
          <a:prstGeom prst="rect">
            <a:avLst/>
          </a:prstGeom>
          <a:noFill/>
        </p:spPr>
        <p:txBody>
          <a:bodyPr wrap="square" anchor="t" lIns="0" rIns="0" tIns="0" bIns="0">
            <a:spAutoFit/>
          </a:bodyPr>
          <a:lstStyle/>
          <a:p>
            <a:pPr algn="l"/>
            <a:r>
              <a:rPr sz="1300" b="1">
                <a:solidFill>
                  <a:srgbClr val="0B0B0C"/>
                </a:solidFill>
                <a:latin typeface="Arial"/>
              </a:rPr>
              <a:t>OUTCOME:  Preference, loyalty, retention</a:t>
            </a:r>
          </a:p>
        </p:txBody>
      </p:sp>
      <p:sp>
        <p:nvSpPr>
          <p:cNvPr id="36" name="Oval 35"/>
          <p:cNvSpPr/>
          <p:nvPr/>
        </p:nvSpPr>
        <p:spPr>
          <a:xfrm>
            <a:off x="5638647" y="3634740"/>
            <a:ext cx="914400" cy="914400"/>
          </a:xfrm>
          <a:prstGeom prst="ellipse">
            <a:avLst/>
          </a:prstGeom>
          <a:solidFill>
            <a:srgbClr val="F5C518"/>
          </a:solidFill>
          <a:ln w="76200">
            <a:solidFill>
              <a:srgbClr val="0B0B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38647" y="3634740"/>
            <a:ext cx="914400" cy="914400"/>
          </a:xfrm>
          <a:prstGeom prst="rect">
            <a:avLst/>
          </a:prstGeom>
          <a:noFill/>
        </p:spPr>
        <p:txBody>
          <a:bodyPr wrap="square" anchor="ctr" lIns="0" rIns="0" tIns="0" bIns="0">
            <a:spAutoFit/>
          </a:bodyPr>
          <a:lstStyle/>
          <a:p>
            <a:pPr algn="ctr"/>
            <a:r>
              <a:rPr sz="3000" b="0">
                <a:solidFill>
                  <a:srgbClr val="0B0B0C"/>
                </a:solidFill>
                <a:latin typeface="Arial Black"/>
              </a:rPr>
              <a:t>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Rectangle 1"/>
          <p:cNvSpPr/>
          <p:nvPr/>
        </p:nvSpPr>
        <p:spPr>
          <a:xfrm>
            <a:off x="685800" y="566928"/>
            <a:ext cx="384048" cy="54864"/>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457200"/>
            <a:ext cx="8229600" cy="274320"/>
          </a:xfrm>
          <a:prstGeom prst="rect">
            <a:avLst/>
          </a:prstGeom>
          <a:noFill/>
        </p:spPr>
        <p:txBody>
          <a:bodyPr wrap="square" anchor="t" lIns="0" rIns="0" tIns="0" bIns="0">
            <a:spAutoFit/>
          </a:bodyPr>
          <a:lstStyle/>
          <a:p>
            <a:pPr algn="l"/>
            <a:r>
              <a:rPr sz="1100" b="1" spc="300">
                <a:solidFill>
                  <a:srgbClr val="F5C518"/>
                </a:solidFill>
                <a:latin typeface="Arial"/>
              </a:rPr>
              <a:t>B2B CHANNEL  |  LINKEDIN</a:t>
            </a:r>
          </a:p>
        </p:txBody>
      </p:sp>
      <p:sp>
        <p:nvSpPr>
          <p:cNvPr id="4" name="TextBox 3"/>
          <p:cNvSpPr txBox="1"/>
          <p:nvPr/>
        </p:nvSpPr>
        <p:spPr>
          <a:xfrm>
            <a:off x="685800" y="868680"/>
            <a:ext cx="10820095" cy="731520"/>
          </a:xfrm>
          <a:prstGeom prst="rect">
            <a:avLst/>
          </a:prstGeom>
          <a:noFill/>
        </p:spPr>
        <p:txBody>
          <a:bodyPr wrap="square" anchor="t" lIns="0" rIns="0" tIns="0" bIns="0">
            <a:spAutoFit/>
          </a:bodyPr>
          <a:lstStyle/>
          <a:p>
            <a:pPr algn="l"/>
            <a:r>
              <a:rPr sz="3200" b="0">
                <a:solidFill>
                  <a:srgbClr val="FFFFFF"/>
                </a:solidFill>
                <a:latin typeface="Arial Black"/>
              </a:rPr>
              <a:t>Turning Scale Into Industry Authority.</a:t>
            </a:r>
          </a:p>
        </p:txBody>
      </p:sp>
      <p:sp>
        <p:nvSpPr>
          <p:cNvPr id="5" name="TextBox 4"/>
          <p:cNvSpPr txBox="1"/>
          <p:nvPr/>
        </p:nvSpPr>
        <p:spPr>
          <a:xfrm>
            <a:off x="685800" y="1645920"/>
            <a:ext cx="10820095" cy="411480"/>
          </a:xfrm>
          <a:prstGeom prst="rect">
            <a:avLst/>
          </a:prstGeom>
          <a:noFill/>
        </p:spPr>
        <p:txBody>
          <a:bodyPr wrap="square" anchor="t" lIns="0" rIns="0" tIns="0" bIns="0">
            <a:spAutoFit/>
          </a:bodyPr>
          <a:lstStyle/>
          <a:p>
            <a:pPr algn="l"/>
            <a:r>
              <a:rPr sz="1700" b="0">
                <a:solidFill>
                  <a:srgbClr val="A0A0A0"/>
                </a:solidFill>
                <a:latin typeface="Arial"/>
              </a:rPr>
              <a:t>400+ TV brands give V data and access no rival OS can match.</a:t>
            </a:r>
          </a:p>
        </p:txBody>
      </p:sp>
      <p:sp>
        <p:nvSpPr>
          <p:cNvPr id="6" name="TextBox 5"/>
          <p:cNvSpPr txBox="1"/>
          <p:nvPr/>
        </p:nvSpPr>
        <p:spPr>
          <a:xfrm>
            <a:off x="685800" y="6400800"/>
            <a:ext cx="5486400" cy="228600"/>
          </a:xfrm>
          <a:prstGeom prst="rect">
            <a:avLst/>
          </a:prstGeom>
          <a:noFill/>
        </p:spPr>
        <p:txBody>
          <a:bodyPr wrap="square" anchor="t" lIns="0" rIns="0" tIns="0" bIns="0">
            <a:spAutoFit/>
          </a:bodyPr>
          <a:lstStyle/>
          <a:p>
            <a:pPr algn="l"/>
            <a:r>
              <a:rPr sz="900" b="1" spc="200">
                <a:solidFill>
                  <a:srgbClr val="5E5E62"/>
                </a:solidFill>
                <a:latin typeface="Arial"/>
              </a:rPr>
              <a:t>V  |  SOCIAL STRATEGY 2026-2027</a:t>
            </a:r>
          </a:p>
        </p:txBody>
      </p:sp>
      <p:sp>
        <p:nvSpPr>
          <p:cNvPr id="7" name="TextBox 6"/>
          <p:cNvSpPr txBox="1"/>
          <p:nvPr/>
        </p:nvSpPr>
        <p:spPr>
          <a:xfrm>
            <a:off x="10591495" y="6400800"/>
            <a:ext cx="914400" cy="228600"/>
          </a:xfrm>
          <a:prstGeom prst="rect">
            <a:avLst/>
          </a:prstGeom>
          <a:noFill/>
        </p:spPr>
        <p:txBody>
          <a:bodyPr wrap="square" anchor="t" lIns="0" rIns="0" tIns="0" bIns="0">
            <a:spAutoFit/>
          </a:bodyPr>
          <a:lstStyle/>
          <a:p>
            <a:pPr algn="r"/>
            <a:r>
              <a:rPr sz="900" b="1" spc="200">
                <a:solidFill>
                  <a:srgbClr val="5E5E62"/>
                </a:solidFill>
                <a:latin typeface="Arial"/>
              </a:rPr>
              <a:t>04 / 07</a:t>
            </a:r>
          </a:p>
        </p:txBody>
      </p:sp>
      <p:sp>
        <p:nvSpPr>
          <p:cNvPr id="8" name="Rounded Rectangle 7"/>
          <p:cNvSpPr/>
          <p:nvPr/>
        </p:nvSpPr>
        <p:spPr>
          <a:xfrm>
            <a:off x="685800" y="2377440"/>
            <a:ext cx="3393338" cy="3017520"/>
          </a:xfrm>
          <a:prstGeom prst="roundRect">
            <a:avLst>
              <a:gd name="adj" fmla="val 6000"/>
            </a:avLst>
          </a:prstGeom>
          <a:solidFill>
            <a:srgbClr val="16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51760"/>
            <a:ext cx="914400" cy="274320"/>
          </a:xfrm>
          <a:prstGeom prst="rect">
            <a:avLst/>
          </a:prstGeom>
          <a:noFill/>
        </p:spPr>
        <p:txBody>
          <a:bodyPr wrap="square" anchor="t" lIns="0" rIns="0" tIns="0" bIns="0">
            <a:spAutoFit/>
          </a:bodyPr>
          <a:lstStyle/>
          <a:p>
            <a:pPr algn="l"/>
            <a:r>
              <a:rPr sz="1200" b="1" spc="200">
                <a:solidFill>
                  <a:srgbClr val="F5C518"/>
                </a:solidFill>
                <a:latin typeface="Arial"/>
              </a:rPr>
              <a:t>01</a:t>
            </a:r>
          </a:p>
        </p:txBody>
      </p:sp>
      <p:sp>
        <p:nvSpPr>
          <p:cNvPr id="10" name="TextBox 9"/>
          <p:cNvSpPr txBox="1"/>
          <p:nvPr/>
        </p:nvSpPr>
        <p:spPr>
          <a:xfrm>
            <a:off x="1005840" y="2926080"/>
            <a:ext cx="2753258" cy="822960"/>
          </a:xfrm>
          <a:prstGeom prst="rect">
            <a:avLst/>
          </a:prstGeom>
          <a:noFill/>
        </p:spPr>
        <p:txBody>
          <a:bodyPr wrap="square" anchor="t" lIns="0" rIns="0" tIns="0" bIns="0">
            <a:spAutoFit/>
          </a:bodyPr>
          <a:lstStyle/>
          <a:p>
            <a:pPr algn="l"/>
            <a:r>
              <a:rPr sz="1900" b="0">
                <a:solidFill>
                  <a:srgbClr val="FFFFFF"/>
                </a:solidFill>
                <a:latin typeface="Arial Black"/>
              </a:rPr>
              <a:t>Proprietary</a:t>
            </a:r>
          </a:p>
          <a:p>
            <a:pPr algn="l"/>
            <a:r>
              <a:rPr sz="1900" b="0">
                <a:solidFill>
                  <a:srgbClr val="FFFFFF"/>
                </a:solidFill>
                <a:latin typeface="Arial Black"/>
              </a:rPr>
              <a:t>Viewing Data</a:t>
            </a:r>
          </a:p>
        </p:txBody>
      </p:sp>
      <p:sp>
        <p:nvSpPr>
          <p:cNvPr id="11" name="Rounded Rectangle 10"/>
          <p:cNvSpPr/>
          <p:nvPr/>
        </p:nvSpPr>
        <p:spPr>
          <a:xfrm>
            <a:off x="4399178" y="2377440"/>
            <a:ext cx="3393338" cy="3017520"/>
          </a:xfrm>
          <a:prstGeom prst="roundRect">
            <a:avLst>
              <a:gd name="adj" fmla="val 6000"/>
            </a:avLst>
          </a:prstGeom>
          <a:solidFill>
            <a:srgbClr val="16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9218" y="2651760"/>
            <a:ext cx="914400" cy="274320"/>
          </a:xfrm>
          <a:prstGeom prst="rect">
            <a:avLst/>
          </a:prstGeom>
          <a:noFill/>
        </p:spPr>
        <p:txBody>
          <a:bodyPr wrap="square" anchor="t" lIns="0" rIns="0" tIns="0" bIns="0">
            <a:spAutoFit/>
          </a:bodyPr>
          <a:lstStyle/>
          <a:p>
            <a:pPr algn="l"/>
            <a:r>
              <a:rPr sz="1200" b="1" spc="200">
                <a:solidFill>
                  <a:srgbClr val="F5C518"/>
                </a:solidFill>
                <a:latin typeface="Arial"/>
              </a:rPr>
              <a:t>02</a:t>
            </a:r>
          </a:p>
        </p:txBody>
      </p:sp>
      <p:sp>
        <p:nvSpPr>
          <p:cNvPr id="13" name="TextBox 12"/>
          <p:cNvSpPr txBox="1"/>
          <p:nvPr/>
        </p:nvSpPr>
        <p:spPr>
          <a:xfrm>
            <a:off x="4719218" y="2926080"/>
            <a:ext cx="2753258" cy="822960"/>
          </a:xfrm>
          <a:prstGeom prst="rect">
            <a:avLst/>
          </a:prstGeom>
          <a:noFill/>
        </p:spPr>
        <p:txBody>
          <a:bodyPr wrap="square" anchor="t" lIns="0" rIns="0" tIns="0" bIns="0">
            <a:spAutoFit/>
          </a:bodyPr>
          <a:lstStyle/>
          <a:p>
            <a:pPr algn="l"/>
            <a:r>
              <a:rPr sz="1900" b="0">
                <a:solidFill>
                  <a:srgbClr val="FFFFFF"/>
                </a:solidFill>
                <a:latin typeface="Arial Black"/>
              </a:rPr>
              <a:t>Strategic</a:t>
            </a:r>
          </a:p>
          <a:p>
            <a:pPr algn="l"/>
            <a:r>
              <a:rPr sz="1900" b="0">
                <a:solidFill>
                  <a:srgbClr val="FFFFFF"/>
                </a:solidFill>
                <a:latin typeface="Arial Black"/>
              </a:rPr>
              <a:t>Partnerships</a:t>
            </a:r>
          </a:p>
        </p:txBody>
      </p:sp>
      <p:sp>
        <p:nvSpPr>
          <p:cNvPr id="14" name="Rounded Rectangle 13"/>
          <p:cNvSpPr/>
          <p:nvPr/>
        </p:nvSpPr>
        <p:spPr>
          <a:xfrm>
            <a:off x="8112556" y="2377440"/>
            <a:ext cx="3393338" cy="3017520"/>
          </a:xfrm>
          <a:prstGeom prst="roundRect">
            <a:avLst>
              <a:gd name="adj" fmla="val 6000"/>
            </a:avLst>
          </a:prstGeom>
          <a:solidFill>
            <a:srgbClr val="16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2596" y="2651760"/>
            <a:ext cx="914400" cy="274320"/>
          </a:xfrm>
          <a:prstGeom prst="rect">
            <a:avLst/>
          </a:prstGeom>
          <a:noFill/>
        </p:spPr>
        <p:txBody>
          <a:bodyPr wrap="square" anchor="t" lIns="0" rIns="0" tIns="0" bIns="0">
            <a:spAutoFit/>
          </a:bodyPr>
          <a:lstStyle/>
          <a:p>
            <a:pPr algn="l"/>
            <a:r>
              <a:rPr sz="1200" b="1" spc="200">
                <a:solidFill>
                  <a:srgbClr val="F5C518"/>
                </a:solidFill>
                <a:latin typeface="Arial"/>
              </a:rPr>
              <a:t>03</a:t>
            </a:r>
          </a:p>
        </p:txBody>
      </p:sp>
      <p:sp>
        <p:nvSpPr>
          <p:cNvPr id="16" name="TextBox 15"/>
          <p:cNvSpPr txBox="1"/>
          <p:nvPr/>
        </p:nvSpPr>
        <p:spPr>
          <a:xfrm>
            <a:off x="8432596" y="2926080"/>
            <a:ext cx="2753258" cy="822960"/>
          </a:xfrm>
          <a:prstGeom prst="rect">
            <a:avLst/>
          </a:prstGeom>
          <a:noFill/>
        </p:spPr>
        <p:txBody>
          <a:bodyPr wrap="square" anchor="t" lIns="0" rIns="0" tIns="0" bIns="0">
            <a:spAutoFit/>
          </a:bodyPr>
          <a:lstStyle/>
          <a:p>
            <a:pPr algn="l"/>
            <a:r>
              <a:rPr sz="1900" b="0">
                <a:solidFill>
                  <a:srgbClr val="FFFFFF"/>
                </a:solidFill>
                <a:latin typeface="Arial Black"/>
              </a:rPr>
              <a:t>Executive</a:t>
            </a:r>
          </a:p>
          <a:p>
            <a:pPr algn="l"/>
            <a:r>
              <a:rPr sz="1900" b="0">
                <a:solidFill>
                  <a:srgbClr val="FFFFFF"/>
                </a:solidFill>
                <a:latin typeface="Arial Black"/>
              </a:rPr>
              <a:t>Voice</a:t>
            </a:r>
          </a:p>
        </p:txBody>
      </p:sp>
      <p:sp>
        <p:nvSpPr>
          <p:cNvPr id="17" name="TextBox 16"/>
          <p:cNvSpPr txBox="1"/>
          <p:nvPr/>
        </p:nvSpPr>
        <p:spPr>
          <a:xfrm>
            <a:off x="1005840" y="3794760"/>
            <a:ext cx="2753258" cy="457200"/>
          </a:xfrm>
          <a:prstGeom prst="rect">
            <a:avLst/>
          </a:prstGeom>
          <a:noFill/>
        </p:spPr>
        <p:txBody>
          <a:bodyPr wrap="square" anchor="t" lIns="0" rIns="0" tIns="0" bIns="0">
            <a:spAutoFit/>
          </a:bodyPr>
          <a:lstStyle/>
          <a:p>
            <a:pPr algn="l"/>
            <a:r>
              <a:rPr sz="1200" b="0">
                <a:solidFill>
                  <a:srgbClr val="A0A0A0"/>
                </a:solidFill>
                <a:latin typeface="Arial"/>
              </a:rPr>
              <a:t>Second-screen stats. Viewing habits.</a:t>
            </a:r>
          </a:p>
        </p:txBody>
      </p:sp>
      <p:sp>
        <p:nvSpPr>
          <p:cNvPr id="18" name="Rectangle 17"/>
          <p:cNvSpPr/>
          <p:nvPr/>
        </p:nvSpPr>
        <p:spPr>
          <a:xfrm>
            <a:off x="1005840" y="4846320"/>
            <a:ext cx="256032" cy="274320"/>
          </a:xfrm>
          <a:prstGeom prst="rect">
            <a:avLst/>
          </a:prstGeom>
          <a:solidFill>
            <a:srgbClr val="2C2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89888" y="4663440"/>
            <a:ext cx="256032" cy="457200"/>
          </a:xfrm>
          <a:prstGeom prst="rect">
            <a:avLst/>
          </a:prstGeom>
          <a:solidFill>
            <a:srgbClr val="2C2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773936" y="4754880"/>
            <a:ext cx="256032" cy="365760"/>
          </a:xfrm>
          <a:prstGeom prst="rect">
            <a:avLst/>
          </a:prstGeom>
          <a:solidFill>
            <a:srgbClr val="2C2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157984" y="4526280"/>
            <a:ext cx="256032" cy="594360"/>
          </a:xfrm>
          <a:prstGeom prst="rect">
            <a:avLst/>
          </a:prstGeom>
          <a:solidFill>
            <a:srgbClr val="2C2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42032" y="4343400"/>
            <a:ext cx="256032" cy="77724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719218" y="3977640"/>
            <a:ext cx="822045" cy="338328"/>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19218" y="3977640"/>
            <a:ext cx="822045" cy="338328"/>
          </a:xfrm>
          <a:prstGeom prst="rect">
            <a:avLst/>
          </a:prstGeom>
          <a:noFill/>
        </p:spPr>
        <p:txBody>
          <a:bodyPr wrap="square" anchor="ctr" lIns="0" rIns="0" tIns="0" bIns="0">
            <a:spAutoFit/>
          </a:bodyPr>
          <a:lstStyle/>
          <a:p>
            <a:pPr algn="ctr"/>
            <a:r>
              <a:rPr sz="1100" b="1">
                <a:solidFill>
                  <a:srgbClr val="FFFFFF"/>
                </a:solidFill>
                <a:latin typeface="Arial"/>
              </a:rPr>
              <a:t>TEADS</a:t>
            </a:r>
          </a:p>
        </p:txBody>
      </p:sp>
      <p:sp>
        <p:nvSpPr>
          <p:cNvPr id="25" name="Rounded Rectangle 24"/>
          <p:cNvSpPr/>
          <p:nvPr/>
        </p:nvSpPr>
        <p:spPr>
          <a:xfrm>
            <a:off x="4719218" y="4407408"/>
            <a:ext cx="920617" cy="338328"/>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9218" y="4407408"/>
            <a:ext cx="920617" cy="338328"/>
          </a:xfrm>
          <a:prstGeom prst="rect">
            <a:avLst/>
          </a:prstGeom>
          <a:noFill/>
        </p:spPr>
        <p:txBody>
          <a:bodyPr wrap="square" anchor="ctr" lIns="0" rIns="0" tIns="0" bIns="0">
            <a:spAutoFit/>
          </a:bodyPr>
          <a:lstStyle/>
          <a:p>
            <a:pPr algn="ctr"/>
            <a:r>
              <a:rPr sz="1100" b="1">
                <a:solidFill>
                  <a:srgbClr val="FFFFFF"/>
                </a:solidFill>
                <a:latin typeface="Arial"/>
              </a:rPr>
              <a:t>OPENAI</a:t>
            </a:r>
          </a:p>
        </p:txBody>
      </p:sp>
      <p:sp>
        <p:nvSpPr>
          <p:cNvPr id="27" name="Rounded Rectangle 26"/>
          <p:cNvSpPr/>
          <p:nvPr/>
        </p:nvSpPr>
        <p:spPr>
          <a:xfrm>
            <a:off x="4719218" y="4837176"/>
            <a:ext cx="1019190" cy="338328"/>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19218" y="4837176"/>
            <a:ext cx="1019190" cy="338328"/>
          </a:xfrm>
          <a:prstGeom prst="rect">
            <a:avLst/>
          </a:prstGeom>
          <a:noFill/>
        </p:spPr>
        <p:txBody>
          <a:bodyPr wrap="square" anchor="ctr" lIns="0" rIns="0" tIns="0" bIns="0">
            <a:spAutoFit/>
          </a:bodyPr>
          <a:lstStyle/>
          <a:p>
            <a:pPr algn="ctr"/>
            <a:r>
              <a:rPr sz="1100" b="1">
                <a:solidFill>
                  <a:srgbClr val="FFFFFF"/>
                </a:solidFill>
                <a:latin typeface="Arial"/>
              </a:rPr>
              <a:t>HISENSE</a:t>
            </a:r>
          </a:p>
        </p:txBody>
      </p:sp>
      <p:sp>
        <p:nvSpPr>
          <p:cNvPr id="29" name="Oval 28"/>
          <p:cNvSpPr/>
          <p:nvPr/>
        </p:nvSpPr>
        <p:spPr>
          <a:xfrm>
            <a:off x="8432596" y="3931920"/>
            <a:ext cx="548640" cy="548640"/>
          </a:xfrm>
          <a:prstGeom prst="ellipse">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32596" y="3931920"/>
            <a:ext cx="548640" cy="548640"/>
          </a:xfrm>
          <a:prstGeom prst="rect">
            <a:avLst/>
          </a:prstGeom>
          <a:noFill/>
        </p:spPr>
        <p:txBody>
          <a:bodyPr wrap="square" anchor="ctr" lIns="0" rIns="0" tIns="0" bIns="0">
            <a:spAutoFit/>
          </a:bodyPr>
          <a:lstStyle/>
          <a:p>
            <a:pPr algn="ctr"/>
            <a:r>
              <a:rPr sz="1300" b="0">
                <a:solidFill>
                  <a:srgbClr val="0B0B0C"/>
                </a:solidFill>
                <a:latin typeface="Arial Black"/>
              </a:rPr>
              <a:t>GE</a:t>
            </a:r>
          </a:p>
        </p:txBody>
      </p:sp>
      <p:sp>
        <p:nvSpPr>
          <p:cNvPr id="31" name="TextBox 30"/>
          <p:cNvSpPr txBox="1"/>
          <p:nvPr/>
        </p:nvSpPr>
        <p:spPr>
          <a:xfrm>
            <a:off x="9118396" y="3931920"/>
            <a:ext cx="2204618" cy="548640"/>
          </a:xfrm>
          <a:prstGeom prst="rect">
            <a:avLst/>
          </a:prstGeom>
          <a:noFill/>
        </p:spPr>
        <p:txBody>
          <a:bodyPr wrap="square" anchor="ctr" lIns="0" rIns="0" tIns="0" bIns="0">
            <a:spAutoFit/>
          </a:bodyPr>
          <a:lstStyle/>
          <a:p>
            <a:pPr algn="l"/>
            <a:r>
              <a:rPr sz="1300" b="1">
                <a:solidFill>
                  <a:srgbClr val="FFFFFF"/>
                </a:solidFill>
                <a:latin typeface="Arial"/>
              </a:rPr>
              <a:t>Guy Edri</a:t>
            </a:r>
          </a:p>
          <a:p>
            <a:pPr algn="l"/>
            <a:r>
              <a:rPr sz="1300" b="1">
                <a:solidFill>
                  <a:srgbClr val="FFFFFF"/>
                </a:solidFill>
                <a:latin typeface="Arial"/>
              </a:rPr>
              <a:t>CEO</a:t>
            </a:r>
          </a:p>
        </p:txBody>
      </p:sp>
      <p:sp>
        <p:nvSpPr>
          <p:cNvPr id="32" name="Oval 31"/>
          <p:cNvSpPr/>
          <p:nvPr/>
        </p:nvSpPr>
        <p:spPr>
          <a:xfrm>
            <a:off x="8432596" y="4645152"/>
            <a:ext cx="548640" cy="548640"/>
          </a:xfrm>
          <a:prstGeom prst="ellipse">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32596" y="4645152"/>
            <a:ext cx="548640" cy="548640"/>
          </a:xfrm>
          <a:prstGeom prst="rect">
            <a:avLst/>
          </a:prstGeom>
          <a:noFill/>
        </p:spPr>
        <p:txBody>
          <a:bodyPr wrap="square" anchor="ctr" lIns="0" rIns="0" tIns="0" bIns="0">
            <a:spAutoFit/>
          </a:bodyPr>
          <a:lstStyle/>
          <a:p>
            <a:pPr algn="ctr"/>
            <a:r>
              <a:rPr sz="1300" b="0">
                <a:solidFill>
                  <a:srgbClr val="0B0B0C"/>
                </a:solidFill>
                <a:latin typeface="Arial Black"/>
              </a:rPr>
              <a:t>DO</a:t>
            </a:r>
          </a:p>
        </p:txBody>
      </p:sp>
      <p:sp>
        <p:nvSpPr>
          <p:cNvPr id="34" name="TextBox 33"/>
          <p:cNvSpPr txBox="1"/>
          <p:nvPr/>
        </p:nvSpPr>
        <p:spPr>
          <a:xfrm>
            <a:off x="9118396" y="4645152"/>
            <a:ext cx="2204618" cy="548640"/>
          </a:xfrm>
          <a:prstGeom prst="rect">
            <a:avLst/>
          </a:prstGeom>
          <a:noFill/>
        </p:spPr>
        <p:txBody>
          <a:bodyPr wrap="square" anchor="ctr" lIns="0" rIns="0" tIns="0" bIns="0">
            <a:spAutoFit/>
          </a:bodyPr>
          <a:lstStyle/>
          <a:p>
            <a:pPr algn="l"/>
            <a:r>
              <a:rPr sz="1300" b="1">
                <a:solidFill>
                  <a:srgbClr val="FFFFFF"/>
                </a:solidFill>
                <a:latin typeface="Arial"/>
              </a:rPr>
              <a:t>Dennis Ostir</a:t>
            </a:r>
          </a:p>
        </p:txBody>
      </p:sp>
      <p:sp>
        <p:nvSpPr>
          <p:cNvPr id="35" name="Rounded Rectangle 34"/>
          <p:cNvSpPr/>
          <p:nvPr/>
        </p:nvSpPr>
        <p:spPr>
          <a:xfrm>
            <a:off x="685800" y="5669280"/>
            <a:ext cx="2659075"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669280"/>
            <a:ext cx="2659075" cy="365760"/>
          </a:xfrm>
          <a:prstGeom prst="rect">
            <a:avLst/>
          </a:prstGeom>
          <a:noFill/>
        </p:spPr>
        <p:txBody>
          <a:bodyPr wrap="square" anchor="ctr" lIns="0" rIns="0" tIns="0" bIns="0">
            <a:spAutoFit/>
          </a:bodyPr>
          <a:lstStyle/>
          <a:p>
            <a:pPr algn="ctr"/>
            <a:r>
              <a:rPr sz="1000" b="1">
                <a:solidFill>
                  <a:srgbClr val="F5C518"/>
                </a:solidFill>
                <a:latin typeface="Arial"/>
              </a:rPr>
              <a:t>TARGET: OEMs &amp; ADVERTISERS</a:t>
            </a:r>
          </a:p>
        </p:txBody>
      </p:sp>
      <p:sp>
        <p:nvSpPr>
          <p:cNvPr id="37" name="Rounded Rectangle 36"/>
          <p:cNvSpPr/>
          <p:nvPr/>
        </p:nvSpPr>
        <p:spPr>
          <a:xfrm>
            <a:off x="3482035" y="5669280"/>
            <a:ext cx="2031796"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82035" y="5669280"/>
            <a:ext cx="2031796" cy="365760"/>
          </a:xfrm>
          <a:prstGeom prst="rect">
            <a:avLst/>
          </a:prstGeom>
          <a:noFill/>
        </p:spPr>
        <p:txBody>
          <a:bodyPr wrap="square" anchor="ctr" lIns="0" rIns="0" tIns="0" bIns="0">
            <a:spAutoFit/>
          </a:bodyPr>
          <a:lstStyle/>
          <a:p>
            <a:pPr algn="ctr"/>
            <a:r>
              <a:rPr sz="1000" b="1">
                <a:solidFill>
                  <a:srgbClr val="F5C518"/>
                </a:solidFill>
                <a:latin typeface="Arial"/>
              </a:rPr>
              <a:t>GOAL: INBOUND DEALS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Rectangle 1"/>
          <p:cNvSpPr/>
          <p:nvPr/>
        </p:nvSpPr>
        <p:spPr>
          <a:xfrm>
            <a:off x="685800" y="566928"/>
            <a:ext cx="384048" cy="54864"/>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457200"/>
            <a:ext cx="8229600" cy="274320"/>
          </a:xfrm>
          <a:prstGeom prst="rect">
            <a:avLst/>
          </a:prstGeom>
          <a:noFill/>
        </p:spPr>
        <p:txBody>
          <a:bodyPr wrap="square" anchor="t" lIns="0" rIns="0" tIns="0" bIns="0">
            <a:spAutoFit/>
          </a:bodyPr>
          <a:lstStyle/>
          <a:p>
            <a:pPr algn="l"/>
            <a:r>
              <a:rPr sz="1100" b="1" spc="300">
                <a:solidFill>
                  <a:srgbClr val="F5C518"/>
                </a:solidFill>
                <a:latin typeface="Arial"/>
              </a:rPr>
              <a:t>B2C CHANNEL  |  INSTAGRAM</a:t>
            </a:r>
          </a:p>
        </p:txBody>
      </p:sp>
      <p:sp>
        <p:nvSpPr>
          <p:cNvPr id="4" name="TextBox 3"/>
          <p:cNvSpPr txBox="1"/>
          <p:nvPr/>
        </p:nvSpPr>
        <p:spPr>
          <a:xfrm>
            <a:off x="685800" y="868680"/>
            <a:ext cx="10820095" cy="731520"/>
          </a:xfrm>
          <a:prstGeom prst="rect">
            <a:avLst/>
          </a:prstGeom>
          <a:noFill/>
        </p:spPr>
        <p:txBody>
          <a:bodyPr wrap="square" anchor="t" lIns="0" rIns="0" tIns="0" bIns="0">
            <a:spAutoFit/>
          </a:bodyPr>
          <a:lstStyle/>
          <a:p>
            <a:pPr algn="l"/>
            <a:r>
              <a:rPr sz="3200" b="0">
                <a:solidFill>
                  <a:srgbClr val="FFFFFF"/>
                </a:solidFill>
                <a:latin typeface="Arial Black"/>
              </a:rPr>
              <a:t>Home Comes to Life.</a:t>
            </a:r>
          </a:p>
        </p:txBody>
      </p:sp>
      <p:sp>
        <p:nvSpPr>
          <p:cNvPr id="5" name="TextBox 4"/>
          <p:cNvSpPr txBox="1"/>
          <p:nvPr/>
        </p:nvSpPr>
        <p:spPr>
          <a:xfrm>
            <a:off x="685800" y="1645920"/>
            <a:ext cx="10820095" cy="411480"/>
          </a:xfrm>
          <a:prstGeom prst="rect">
            <a:avLst/>
          </a:prstGeom>
          <a:noFill/>
        </p:spPr>
        <p:txBody>
          <a:bodyPr wrap="square" anchor="t" lIns="0" rIns="0" tIns="0" bIns="0">
            <a:spAutoFit/>
          </a:bodyPr>
          <a:lstStyle/>
          <a:p>
            <a:pPr algn="l"/>
            <a:r>
              <a:rPr sz="1700" b="0">
                <a:solidFill>
                  <a:srgbClr val="A0A0A0"/>
                </a:solidFill>
                <a:latin typeface="Arial"/>
              </a:rPr>
              <a:t>Relaunch the dormant account as the living room's favorite feed.</a:t>
            </a:r>
          </a:p>
        </p:txBody>
      </p:sp>
      <p:sp>
        <p:nvSpPr>
          <p:cNvPr id="6" name="TextBox 5"/>
          <p:cNvSpPr txBox="1"/>
          <p:nvPr/>
        </p:nvSpPr>
        <p:spPr>
          <a:xfrm>
            <a:off x="685800" y="6400800"/>
            <a:ext cx="5486400" cy="228600"/>
          </a:xfrm>
          <a:prstGeom prst="rect">
            <a:avLst/>
          </a:prstGeom>
          <a:noFill/>
        </p:spPr>
        <p:txBody>
          <a:bodyPr wrap="square" anchor="t" lIns="0" rIns="0" tIns="0" bIns="0">
            <a:spAutoFit/>
          </a:bodyPr>
          <a:lstStyle/>
          <a:p>
            <a:pPr algn="l"/>
            <a:r>
              <a:rPr sz="900" b="1" spc="200">
                <a:solidFill>
                  <a:srgbClr val="5E5E62"/>
                </a:solidFill>
                <a:latin typeface="Arial"/>
              </a:rPr>
              <a:t>V  |  SOCIAL STRATEGY 2026-2027</a:t>
            </a:r>
          </a:p>
        </p:txBody>
      </p:sp>
      <p:sp>
        <p:nvSpPr>
          <p:cNvPr id="7" name="TextBox 6"/>
          <p:cNvSpPr txBox="1"/>
          <p:nvPr/>
        </p:nvSpPr>
        <p:spPr>
          <a:xfrm>
            <a:off x="10591495" y="6400800"/>
            <a:ext cx="914400" cy="228600"/>
          </a:xfrm>
          <a:prstGeom prst="rect">
            <a:avLst/>
          </a:prstGeom>
          <a:noFill/>
        </p:spPr>
        <p:txBody>
          <a:bodyPr wrap="square" anchor="t" lIns="0" rIns="0" tIns="0" bIns="0">
            <a:spAutoFit/>
          </a:bodyPr>
          <a:lstStyle/>
          <a:p>
            <a:pPr algn="r"/>
            <a:r>
              <a:rPr sz="900" b="1" spc="200">
                <a:solidFill>
                  <a:srgbClr val="5E5E62"/>
                </a:solidFill>
                <a:latin typeface="Arial"/>
              </a:rPr>
              <a:t>05 / 07</a:t>
            </a:r>
          </a:p>
        </p:txBody>
      </p:sp>
      <p:sp>
        <p:nvSpPr>
          <p:cNvPr id="8" name="Rectangle 7"/>
          <p:cNvSpPr/>
          <p:nvPr/>
        </p:nvSpPr>
        <p:spPr>
          <a:xfrm>
            <a:off x="685800" y="2331720"/>
            <a:ext cx="1078992" cy="1078992"/>
          </a:xfrm>
          <a:prstGeom prst="rect">
            <a:avLst/>
          </a:prstGeom>
          <a:solidFill>
            <a:srgbClr val="1A1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19656" y="2331720"/>
            <a:ext cx="1078992" cy="1078992"/>
          </a:xfrm>
          <a:prstGeom prst="rect">
            <a:avLst/>
          </a:prstGeom>
          <a:solidFill>
            <a:srgbClr val="22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53512" y="2331720"/>
            <a:ext cx="1078992" cy="1078992"/>
          </a:xfrm>
          <a:prstGeom prst="rect">
            <a:avLst/>
          </a:prstGeom>
          <a:solidFill>
            <a:srgbClr val="1A1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465576"/>
            <a:ext cx="1078992" cy="1078992"/>
          </a:xfrm>
          <a:prstGeom prst="rect">
            <a:avLst/>
          </a:prstGeom>
          <a:solidFill>
            <a:srgbClr val="22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19656" y="3465576"/>
            <a:ext cx="1078992" cy="1078992"/>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3512" y="3465576"/>
            <a:ext cx="1078992" cy="1078992"/>
          </a:xfrm>
          <a:prstGeom prst="rect">
            <a:avLst/>
          </a:prstGeom>
          <a:solidFill>
            <a:srgbClr val="1A1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4599432"/>
            <a:ext cx="1078992" cy="1078992"/>
          </a:xfrm>
          <a:prstGeom prst="rect">
            <a:avLst/>
          </a:prstGeom>
          <a:solidFill>
            <a:srgbClr val="1A1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19656" y="4599432"/>
            <a:ext cx="1078992" cy="1078992"/>
          </a:xfrm>
          <a:prstGeom prst="rect">
            <a:avLst/>
          </a:prstGeom>
          <a:solidFill>
            <a:srgbClr val="1A1A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53512" y="4599432"/>
            <a:ext cx="1078992" cy="1078992"/>
          </a:xfrm>
          <a:prstGeom prst="rect">
            <a:avLst/>
          </a:prstGeom>
          <a:solidFill>
            <a:srgbClr val="22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5102352"/>
            <a:ext cx="3346704" cy="73152"/>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19656" y="3465576"/>
            <a:ext cx="1078992" cy="1078992"/>
          </a:xfrm>
          <a:prstGeom prst="rect">
            <a:avLst/>
          </a:prstGeom>
          <a:noFill/>
        </p:spPr>
        <p:txBody>
          <a:bodyPr wrap="square" anchor="ctr" lIns="0" rIns="0" tIns="0" bIns="0">
            <a:spAutoFit/>
          </a:bodyPr>
          <a:lstStyle/>
          <a:p>
            <a:pPr algn="ctr"/>
            <a:r>
              <a:rPr sz="1000" b="0">
                <a:solidFill>
                  <a:srgbClr val="0B0B0C"/>
                </a:solidFill>
                <a:latin typeface="Arial Black"/>
              </a:rPr>
              <a:t>WHERE</a:t>
            </a:r>
          </a:p>
          <a:p>
            <a:pPr algn="ctr"/>
            <a:r>
              <a:rPr sz="1000" b="0">
                <a:solidFill>
                  <a:srgbClr val="0B0B0C"/>
                </a:solidFill>
                <a:latin typeface="Arial Black"/>
              </a:rPr>
              <a:t>MOMENTS</a:t>
            </a:r>
          </a:p>
          <a:p>
            <a:pPr algn="ctr"/>
            <a:r>
              <a:rPr sz="1000" b="0">
                <a:solidFill>
                  <a:srgbClr val="0B0B0C"/>
                </a:solidFill>
                <a:latin typeface="Arial Black"/>
              </a:rPr>
              <a:t>COME</a:t>
            </a:r>
          </a:p>
          <a:p>
            <a:pPr algn="ctr"/>
            <a:r>
              <a:rPr sz="1000" b="0">
                <a:solidFill>
                  <a:srgbClr val="0B0B0C"/>
                </a:solidFill>
                <a:latin typeface="Arial Black"/>
              </a:rPr>
              <a:t>ALIVE</a:t>
            </a:r>
          </a:p>
        </p:txBody>
      </p:sp>
      <p:sp>
        <p:nvSpPr>
          <p:cNvPr id="19" name="Rounded Rectangle 18"/>
          <p:cNvSpPr/>
          <p:nvPr/>
        </p:nvSpPr>
        <p:spPr>
          <a:xfrm>
            <a:off x="685800" y="5843016"/>
            <a:ext cx="2569464"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843016"/>
            <a:ext cx="2569464" cy="365760"/>
          </a:xfrm>
          <a:prstGeom prst="rect">
            <a:avLst/>
          </a:prstGeom>
          <a:noFill/>
        </p:spPr>
        <p:txBody>
          <a:bodyPr wrap="square" anchor="ctr" lIns="0" rIns="0" tIns="0" bIns="0">
            <a:spAutoFit/>
          </a:bodyPr>
          <a:lstStyle/>
          <a:p>
            <a:pPr algn="ctr"/>
            <a:r>
              <a:rPr sz="1000" b="1">
                <a:solidFill>
                  <a:srgbClr val="F5C518"/>
                </a:solidFill>
                <a:latin typeface="Arial"/>
              </a:rPr>
              <a:t>9-TILE PANORAMIC RELAUNCH</a:t>
            </a:r>
          </a:p>
        </p:txBody>
      </p:sp>
      <p:sp>
        <p:nvSpPr>
          <p:cNvPr id="21" name="Rounded Rectangle 20"/>
          <p:cNvSpPr/>
          <p:nvPr/>
        </p:nvSpPr>
        <p:spPr>
          <a:xfrm>
            <a:off x="4489704" y="2331720"/>
            <a:ext cx="7016191" cy="1508760"/>
          </a:xfrm>
          <a:prstGeom prst="roundRect">
            <a:avLst>
              <a:gd name="adj" fmla="val 6000"/>
            </a:avLst>
          </a:prstGeom>
          <a:solidFill>
            <a:srgbClr val="16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09744" y="2606040"/>
            <a:ext cx="960120" cy="960120"/>
          </a:xfrm>
          <a:prstGeom prst="ellipse">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9744" y="2606040"/>
            <a:ext cx="960120" cy="960120"/>
          </a:xfrm>
          <a:prstGeom prst="rect">
            <a:avLst/>
          </a:prstGeom>
          <a:noFill/>
        </p:spPr>
        <p:txBody>
          <a:bodyPr wrap="square" anchor="ctr" lIns="0" rIns="0" tIns="0" bIns="0">
            <a:spAutoFit/>
          </a:bodyPr>
          <a:lstStyle/>
          <a:p>
            <a:pPr algn="ctr"/>
            <a:r>
              <a:rPr sz="2200" b="0">
                <a:solidFill>
                  <a:srgbClr val="0B0B0C"/>
                </a:solidFill>
                <a:latin typeface="Arial Black"/>
              </a:rPr>
              <a:t>15s</a:t>
            </a:r>
          </a:p>
        </p:txBody>
      </p:sp>
      <p:sp>
        <p:nvSpPr>
          <p:cNvPr id="24" name="TextBox 23"/>
          <p:cNvSpPr txBox="1"/>
          <p:nvPr/>
        </p:nvSpPr>
        <p:spPr>
          <a:xfrm>
            <a:off x="6044184" y="2651760"/>
            <a:ext cx="5187391" cy="457200"/>
          </a:xfrm>
          <a:prstGeom prst="rect">
            <a:avLst/>
          </a:prstGeom>
          <a:noFill/>
        </p:spPr>
        <p:txBody>
          <a:bodyPr wrap="square" anchor="t" lIns="0" rIns="0" tIns="0" bIns="0">
            <a:spAutoFit/>
          </a:bodyPr>
          <a:lstStyle/>
          <a:p>
            <a:pPr algn="l"/>
            <a:r>
              <a:rPr sz="2200" b="0">
                <a:solidFill>
                  <a:srgbClr val="FFFFFF"/>
                </a:solidFill>
                <a:latin typeface="Arial Black"/>
              </a:rPr>
              <a:t>Living Room Hacks</a:t>
            </a:r>
          </a:p>
        </p:txBody>
      </p:sp>
      <p:sp>
        <p:nvSpPr>
          <p:cNvPr id="25" name="TextBox 24"/>
          <p:cNvSpPr txBox="1"/>
          <p:nvPr/>
        </p:nvSpPr>
        <p:spPr>
          <a:xfrm>
            <a:off x="6044184" y="3154680"/>
            <a:ext cx="5187391" cy="457200"/>
          </a:xfrm>
          <a:prstGeom prst="rect">
            <a:avLst/>
          </a:prstGeom>
          <a:noFill/>
        </p:spPr>
        <p:txBody>
          <a:bodyPr wrap="square" anchor="t" lIns="0" rIns="0" tIns="0" bIns="0">
            <a:spAutoFit/>
          </a:bodyPr>
          <a:lstStyle/>
          <a:p>
            <a:pPr algn="l"/>
            <a:r>
              <a:rPr sz="1400" b="0">
                <a:solidFill>
                  <a:srgbClr val="A0A0A0"/>
                </a:solidFill>
                <a:latin typeface="Arial"/>
              </a:rPr>
              <a:t>Quick TV tricks, family rituals, gaming.</a:t>
            </a:r>
          </a:p>
        </p:txBody>
      </p:sp>
      <p:sp>
        <p:nvSpPr>
          <p:cNvPr id="26" name="Rounded Rectangle 25"/>
          <p:cNvSpPr/>
          <p:nvPr/>
        </p:nvSpPr>
        <p:spPr>
          <a:xfrm>
            <a:off x="4489704" y="4023360"/>
            <a:ext cx="7016191" cy="1508760"/>
          </a:xfrm>
          <a:prstGeom prst="roundRect">
            <a:avLst>
              <a:gd name="adj" fmla="val 6000"/>
            </a:avLst>
          </a:prstGeom>
          <a:solidFill>
            <a:srgbClr val="16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9744" y="4251960"/>
            <a:ext cx="7016191" cy="457200"/>
          </a:xfrm>
          <a:prstGeom prst="rect">
            <a:avLst/>
          </a:prstGeom>
          <a:noFill/>
        </p:spPr>
        <p:txBody>
          <a:bodyPr wrap="square" anchor="t" lIns="0" rIns="0" tIns="0" bIns="0">
            <a:spAutoFit/>
          </a:bodyPr>
          <a:lstStyle/>
          <a:p>
            <a:pPr algn="l"/>
            <a:r>
              <a:rPr sz="2200" b="0">
                <a:solidFill>
                  <a:srgbClr val="FFFFFF"/>
                </a:solidFill>
                <a:latin typeface="Arial Black"/>
              </a:rPr>
              <a:t>Community Formats</a:t>
            </a:r>
          </a:p>
        </p:txBody>
      </p:sp>
      <p:sp>
        <p:nvSpPr>
          <p:cNvPr id="28" name="Rounded Rectangle 27"/>
          <p:cNvSpPr/>
          <p:nvPr/>
        </p:nvSpPr>
        <p:spPr>
          <a:xfrm>
            <a:off x="4809744" y="4846320"/>
            <a:ext cx="1314907"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09744" y="4846320"/>
            <a:ext cx="1314907" cy="365760"/>
          </a:xfrm>
          <a:prstGeom prst="rect">
            <a:avLst/>
          </a:prstGeom>
          <a:noFill/>
        </p:spPr>
        <p:txBody>
          <a:bodyPr wrap="square" anchor="ctr" lIns="0" rIns="0" tIns="0" bIns="0">
            <a:spAutoFit/>
          </a:bodyPr>
          <a:lstStyle/>
          <a:p>
            <a:pPr algn="ctr"/>
            <a:r>
              <a:rPr sz="1000" b="1">
                <a:solidFill>
                  <a:srgbClr val="FFFFFF"/>
                </a:solidFill>
                <a:latin typeface="Arial"/>
              </a:rPr>
              <a:t>"MY RITUAL"</a:t>
            </a:r>
          </a:p>
        </p:txBody>
      </p:sp>
      <p:sp>
        <p:nvSpPr>
          <p:cNvPr id="30" name="Rounded Rectangle 29"/>
          <p:cNvSpPr/>
          <p:nvPr/>
        </p:nvSpPr>
        <p:spPr>
          <a:xfrm>
            <a:off x="6261811" y="4846320"/>
            <a:ext cx="2300630"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1811" y="4846320"/>
            <a:ext cx="2300630" cy="365760"/>
          </a:xfrm>
          <a:prstGeom prst="rect">
            <a:avLst/>
          </a:prstGeom>
          <a:noFill/>
        </p:spPr>
        <p:txBody>
          <a:bodyPr wrap="square" anchor="ctr" lIns="0" rIns="0" tIns="0" bIns="0">
            <a:spAutoFit/>
          </a:bodyPr>
          <a:lstStyle/>
          <a:p>
            <a:pPr algn="ctr"/>
            <a:r>
              <a:rPr sz="1000" b="1">
                <a:solidFill>
                  <a:srgbClr val="FFFFFF"/>
                </a:solidFill>
                <a:latin typeface="Arial"/>
              </a:rPr>
              <a:t>"THE REAL LIVING ROOM"</a:t>
            </a:r>
          </a:p>
        </p:txBody>
      </p:sp>
      <p:sp>
        <p:nvSpPr>
          <p:cNvPr id="32" name="Rounded Rectangle 31"/>
          <p:cNvSpPr/>
          <p:nvPr/>
        </p:nvSpPr>
        <p:spPr>
          <a:xfrm>
            <a:off x="8699601" y="4846320"/>
            <a:ext cx="2479852"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99601" y="4846320"/>
            <a:ext cx="2479852" cy="365760"/>
          </a:xfrm>
          <a:prstGeom prst="rect">
            <a:avLst/>
          </a:prstGeom>
          <a:noFill/>
        </p:spPr>
        <p:txBody>
          <a:bodyPr wrap="square" anchor="ctr" lIns="0" rIns="0" tIns="0" bIns="0">
            <a:spAutoFit/>
          </a:bodyPr>
          <a:lstStyle/>
          <a:p>
            <a:pPr algn="ctr"/>
            <a:r>
              <a:rPr sz="1000" b="1">
                <a:solidFill>
                  <a:srgbClr val="FFFFFF"/>
                </a:solidFill>
                <a:latin typeface="Arial"/>
              </a:rPr>
              <a:t>UNPOLISHED COUCH MOMENTS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Rectangle 1"/>
          <p:cNvSpPr/>
          <p:nvPr/>
        </p:nvSpPr>
        <p:spPr>
          <a:xfrm>
            <a:off x="685800" y="566928"/>
            <a:ext cx="384048" cy="54864"/>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457200"/>
            <a:ext cx="8229600" cy="274320"/>
          </a:xfrm>
          <a:prstGeom prst="rect">
            <a:avLst/>
          </a:prstGeom>
          <a:noFill/>
        </p:spPr>
        <p:txBody>
          <a:bodyPr wrap="square" anchor="t" lIns="0" rIns="0" tIns="0" bIns="0">
            <a:spAutoFit/>
          </a:bodyPr>
          <a:lstStyle/>
          <a:p>
            <a:pPr algn="l"/>
            <a:r>
              <a:rPr sz="1100" b="1" spc="300">
                <a:solidFill>
                  <a:srgbClr val="F5C518"/>
                </a:solidFill>
                <a:latin typeface="Arial"/>
              </a:rPr>
              <a:t>CREATOR STRATEGY</a:t>
            </a:r>
          </a:p>
        </p:txBody>
      </p:sp>
      <p:sp>
        <p:nvSpPr>
          <p:cNvPr id="4" name="TextBox 3"/>
          <p:cNvSpPr txBox="1"/>
          <p:nvPr/>
        </p:nvSpPr>
        <p:spPr>
          <a:xfrm>
            <a:off x="685800" y="868680"/>
            <a:ext cx="10820095" cy="731520"/>
          </a:xfrm>
          <a:prstGeom prst="rect">
            <a:avLst/>
          </a:prstGeom>
          <a:noFill/>
        </p:spPr>
        <p:txBody>
          <a:bodyPr wrap="square" anchor="t" lIns="0" rIns="0" tIns="0" bIns="0">
            <a:spAutoFit/>
          </a:bodyPr>
          <a:lstStyle/>
          <a:p>
            <a:pPr algn="l"/>
            <a:r>
              <a:rPr sz="3200" b="0">
                <a:solidFill>
                  <a:srgbClr val="FFFFFF"/>
                </a:solidFill>
                <a:latin typeface="Arial Black"/>
              </a:rPr>
              <a:t>V Ambassadors: Real People, Zero Filters.</a:t>
            </a:r>
          </a:p>
        </p:txBody>
      </p:sp>
      <p:sp>
        <p:nvSpPr>
          <p:cNvPr id="5" name="TextBox 4"/>
          <p:cNvSpPr txBox="1"/>
          <p:nvPr/>
        </p:nvSpPr>
        <p:spPr>
          <a:xfrm>
            <a:off x="685800" y="1645920"/>
            <a:ext cx="10820095" cy="411480"/>
          </a:xfrm>
          <a:prstGeom prst="rect">
            <a:avLst/>
          </a:prstGeom>
          <a:noFill/>
        </p:spPr>
        <p:txBody>
          <a:bodyPr wrap="square" anchor="t" lIns="0" rIns="0" tIns="0" bIns="0">
            <a:spAutoFit/>
          </a:bodyPr>
          <a:lstStyle/>
          <a:p>
            <a:pPr algn="l"/>
            <a:r>
              <a:rPr sz="1700" b="0">
                <a:solidFill>
                  <a:srgbClr val="A0A0A0"/>
                </a:solidFill>
                <a:latin typeface="Arial"/>
              </a:rPr>
              <a:t>Authentic living rooms outperform staged commercials.</a:t>
            </a:r>
          </a:p>
        </p:txBody>
      </p:sp>
      <p:sp>
        <p:nvSpPr>
          <p:cNvPr id="6" name="TextBox 5"/>
          <p:cNvSpPr txBox="1"/>
          <p:nvPr/>
        </p:nvSpPr>
        <p:spPr>
          <a:xfrm>
            <a:off x="685800" y="6400800"/>
            <a:ext cx="5486400" cy="228600"/>
          </a:xfrm>
          <a:prstGeom prst="rect">
            <a:avLst/>
          </a:prstGeom>
          <a:noFill/>
        </p:spPr>
        <p:txBody>
          <a:bodyPr wrap="square" anchor="t" lIns="0" rIns="0" tIns="0" bIns="0">
            <a:spAutoFit/>
          </a:bodyPr>
          <a:lstStyle/>
          <a:p>
            <a:pPr algn="l"/>
            <a:r>
              <a:rPr sz="900" b="1" spc="200">
                <a:solidFill>
                  <a:srgbClr val="5E5E62"/>
                </a:solidFill>
                <a:latin typeface="Arial"/>
              </a:rPr>
              <a:t>V  |  SOCIAL STRATEGY 2026-2027</a:t>
            </a:r>
          </a:p>
        </p:txBody>
      </p:sp>
      <p:sp>
        <p:nvSpPr>
          <p:cNvPr id="7" name="TextBox 6"/>
          <p:cNvSpPr txBox="1"/>
          <p:nvPr/>
        </p:nvSpPr>
        <p:spPr>
          <a:xfrm>
            <a:off x="10591495" y="6400800"/>
            <a:ext cx="914400" cy="228600"/>
          </a:xfrm>
          <a:prstGeom prst="rect">
            <a:avLst/>
          </a:prstGeom>
          <a:noFill/>
        </p:spPr>
        <p:txBody>
          <a:bodyPr wrap="square" anchor="t" lIns="0" rIns="0" tIns="0" bIns="0">
            <a:spAutoFit/>
          </a:bodyPr>
          <a:lstStyle/>
          <a:p>
            <a:pPr algn="r"/>
            <a:r>
              <a:rPr sz="900" b="1" spc="200">
                <a:solidFill>
                  <a:srgbClr val="5E5E62"/>
                </a:solidFill>
                <a:latin typeface="Arial"/>
              </a:rPr>
              <a:t>06 / 07</a:t>
            </a:r>
          </a:p>
        </p:txBody>
      </p:sp>
      <p:sp>
        <p:nvSpPr>
          <p:cNvPr id="8" name="Rounded Rectangle 7"/>
          <p:cNvSpPr/>
          <p:nvPr/>
        </p:nvSpPr>
        <p:spPr>
          <a:xfrm>
            <a:off x="685800" y="2377440"/>
            <a:ext cx="4892040" cy="2331720"/>
          </a:xfrm>
          <a:prstGeom prst="roundRect">
            <a:avLst>
              <a:gd name="adj" fmla="val 6000"/>
            </a:avLst>
          </a:prstGeom>
          <a:solidFill>
            <a:srgbClr val="16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697480"/>
            <a:ext cx="3657600" cy="274320"/>
          </a:xfrm>
          <a:prstGeom prst="rect">
            <a:avLst/>
          </a:prstGeom>
          <a:noFill/>
        </p:spPr>
        <p:txBody>
          <a:bodyPr wrap="square" anchor="t" lIns="0" rIns="0" tIns="0" bIns="0">
            <a:spAutoFit/>
          </a:bodyPr>
          <a:lstStyle/>
          <a:p>
            <a:pPr algn="l"/>
            <a:r>
              <a:rPr sz="1100" b="1" spc="300">
                <a:solidFill>
                  <a:srgbClr val="5E5E62"/>
                </a:solidFill>
                <a:latin typeface="Arial"/>
              </a:rPr>
              <a:t>OLD WAY</a:t>
            </a:r>
          </a:p>
        </p:txBody>
      </p:sp>
      <p:sp>
        <p:nvSpPr>
          <p:cNvPr id="10" name="TextBox 9"/>
          <p:cNvSpPr txBox="1"/>
          <p:nvPr/>
        </p:nvSpPr>
        <p:spPr>
          <a:xfrm>
            <a:off x="1051560" y="3017520"/>
            <a:ext cx="4892040" cy="548640"/>
          </a:xfrm>
          <a:prstGeom prst="rect">
            <a:avLst/>
          </a:prstGeom>
          <a:noFill/>
        </p:spPr>
        <p:txBody>
          <a:bodyPr wrap="square" anchor="t" lIns="0" rIns="0" tIns="0" bIns="0">
            <a:spAutoFit/>
          </a:bodyPr>
          <a:lstStyle/>
          <a:p>
            <a:pPr algn="l"/>
            <a:r>
              <a:rPr sz="2400" b="0">
                <a:solidFill>
                  <a:srgbClr val="5E5E62"/>
                </a:solidFill>
                <a:latin typeface="Arial Black"/>
              </a:rPr>
              <a:t>Staged Commercial</a:t>
            </a:r>
          </a:p>
        </p:txBody>
      </p:sp>
      <p:sp>
        <p:nvSpPr>
          <p:cNvPr id="11" name="Rectangle 10"/>
          <p:cNvSpPr/>
          <p:nvPr/>
        </p:nvSpPr>
        <p:spPr>
          <a:xfrm>
            <a:off x="1051560" y="3200400"/>
            <a:ext cx="3931920" cy="4572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1560" y="3840480"/>
            <a:ext cx="1135684" cy="365760"/>
          </a:xfrm>
          <a:prstGeom prst="roundRect">
            <a:avLst>
              <a:gd name="adj" fmla="val 50000"/>
            </a:avLst>
          </a:prstGeom>
          <a:noFill/>
          <a:ln w="15875">
            <a:solidFill>
              <a:srgbClr val="5E5E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840480"/>
            <a:ext cx="1135684" cy="365760"/>
          </a:xfrm>
          <a:prstGeom prst="rect">
            <a:avLst/>
          </a:prstGeom>
          <a:noFill/>
        </p:spPr>
        <p:txBody>
          <a:bodyPr wrap="square" anchor="ctr" lIns="0" rIns="0" tIns="0" bIns="0">
            <a:spAutoFit/>
          </a:bodyPr>
          <a:lstStyle/>
          <a:p>
            <a:pPr algn="ctr"/>
            <a:r>
              <a:rPr sz="1000" b="1">
                <a:solidFill>
                  <a:srgbClr val="5E5E62"/>
                </a:solidFill>
                <a:latin typeface="Arial"/>
              </a:rPr>
              <a:t>HIGH COST</a:t>
            </a:r>
          </a:p>
        </p:txBody>
      </p:sp>
      <p:sp>
        <p:nvSpPr>
          <p:cNvPr id="14" name="Rounded Rectangle 13"/>
          <p:cNvSpPr/>
          <p:nvPr/>
        </p:nvSpPr>
        <p:spPr>
          <a:xfrm>
            <a:off x="2324404" y="3840480"/>
            <a:ext cx="1135684" cy="365760"/>
          </a:xfrm>
          <a:prstGeom prst="roundRect">
            <a:avLst>
              <a:gd name="adj" fmla="val 50000"/>
            </a:avLst>
          </a:prstGeom>
          <a:noFill/>
          <a:ln w="15875">
            <a:solidFill>
              <a:srgbClr val="5E5E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24404" y="3840480"/>
            <a:ext cx="1135684" cy="365760"/>
          </a:xfrm>
          <a:prstGeom prst="rect">
            <a:avLst/>
          </a:prstGeom>
          <a:noFill/>
        </p:spPr>
        <p:txBody>
          <a:bodyPr wrap="square" anchor="ctr" lIns="0" rIns="0" tIns="0" bIns="0">
            <a:spAutoFit/>
          </a:bodyPr>
          <a:lstStyle/>
          <a:p>
            <a:pPr algn="ctr"/>
            <a:r>
              <a:rPr sz="1000" b="1">
                <a:solidFill>
                  <a:srgbClr val="5E5E62"/>
                </a:solidFill>
                <a:latin typeface="Arial"/>
              </a:rPr>
              <a:t>LOW TRUST</a:t>
            </a:r>
          </a:p>
        </p:txBody>
      </p:sp>
      <p:sp>
        <p:nvSpPr>
          <p:cNvPr id="16" name="Rounded Rectangle 15"/>
          <p:cNvSpPr/>
          <p:nvPr/>
        </p:nvSpPr>
        <p:spPr>
          <a:xfrm>
            <a:off x="3597248" y="3840480"/>
            <a:ext cx="687628" cy="365760"/>
          </a:xfrm>
          <a:prstGeom prst="roundRect">
            <a:avLst>
              <a:gd name="adj" fmla="val 50000"/>
            </a:avLst>
          </a:prstGeom>
          <a:noFill/>
          <a:ln w="15875">
            <a:solidFill>
              <a:srgbClr val="5E5E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97248" y="3840480"/>
            <a:ext cx="687628" cy="365760"/>
          </a:xfrm>
          <a:prstGeom prst="rect">
            <a:avLst/>
          </a:prstGeom>
          <a:noFill/>
        </p:spPr>
        <p:txBody>
          <a:bodyPr wrap="square" anchor="ctr" lIns="0" rIns="0" tIns="0" bIns="0">
            <a:spAutoFit/>
          </a:bodyPr>
          <a:lstStyle/>
          <a:p>
            <a:pPr algn="ctr"/>
            <a:r>
              <a:rPr sz="1000" b="1">
                <a:solidFill>
                  <a:srgbClr val="5E5E62"/>
                </a:solidFill>
                <a:latin typeface="Arial"/>
              </a:rPr>
              <a:t>SLOW</a:t>
            </a:r>
          </a:p>
        </p:txBody>
      </p:sp>
      <p:sp>
        <p:nvSpPr>
          <p:cNvPr id="18" name="Rounded Rectangle 17"/>
          <p:cNvSpPr/>
          <p:nvPr/>
        </p:nvSpPr>
        <p:spPr>
          <a:xfrm>
            <a:off x="6613855" y="2377440"/>
            <a:ext cx="4892040" cy="2331720"/>
          </a:xfrm>
          <a:prstGeom prst="roundRect">
            <a:avLst>
              <a:gd name="adj" fmla="val 6000"/>
            </a:avLst>
          </a:prstGeom>
          <a:solidFill>
            <a:srgbClr val="1E1E21"/>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79615" y="2697480"/>
            <a:ext cx="3657600" cy="274320"/>
          </a:xfrm>
          <a:prstGeom prst="rect">
            <a:avLst/>
          </a:prstGeom>
          <a:noFill/>
        </p:spPr>
        <p:txBody>
          <a:bodyPr wrap="square" anchor="t" lIns="0" rIns="0" tIns="0" bIns="0">
            <a:spAutoFit/>
          </a:bodyPr>
          <a:lstStyle/>
          <a:p>
            <a:pPr algn="l"/>
            <a:r>
              <a:rPr sz="1100" b="1" spc="300">
                <a:solidFill>
                  <a:srgbClr val="F5C518"/>
                </a:solidFill>
                <a:latin typeface="Arial"/>
              </a:rPr>
              <a:t>V WAY</a:t>
            </a:r>
          </a:p>
        </p:txBody>
      </p:sp>
      <p:sp>
        <p:nvSpPr>
          <p:cNvPr id="20" name="TextBox 19"/>
          <p:cNvSpPr txBox="1"/>
          <p:nvPr/>
        </p:nvSpPr>
        <p:spPr>
          <a:xfrm>
            <a:off x="6979615" y="3017520"/>
            <a:ext cx="4892040" cy="548640"/>
          </a:xfrm>
          <a:prstGeom prst="rect">
            <a:avLst/>
          </a:prstGeom>
          <a:noFill/>
        </p:spPr>
        <p:txBody>
          <a:bodyPr wrap="square" anchor="t" lIns="0" rIns="0" tIns="0" bIns="0">
            <a:spAutoFit/>
          </a:bodyPr>
          <a:lstStyle/>
          <a:p>
            <a:pPr algn="l"/>
            <a:r>
              <a:rPr sz="2400" b="0">
                <a:solidFill>
                  <a:srgbClr val="FFFFFF"/>
                </a:solidFill>
                <a:latin typeface="Arial Black"/>
              </a:rPr>
              <a:t>Real Living Rooms</a:t>
            </a:r>
          </a:p>
        </p:txBody>
      </p:sp>
      <p:sp>
        <p:nvSpPr>
          <p:cNvPr id="21" name="Rounded Rectangle 20"/>
          <p:cNvSpPr/>
          <p:nvPr/>
        </p:nvSpPr>
        <p:spPr>
          <a:xfrm>
            <a:off x="6979615" y="3840480"/>
            <a:ext cx="1046073"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79615" y="3840480"/>
            <a:ext cx="1046073" cy="365760"/>
          </a:xfrm>
          <a:prstGeom prst="rect">
            <a:avLst/>
          </a:prstGeom>
          <a:noFill/>
        </p:spPr>
        <p:txBody>
          <a:bodyPr wrap="square" anchor="ctr" lIns="0" rIns="0" tIns="0" bIns="0">
            <a:spAutoFit/>
          </a:bodyPr>
          <a:lstStyle/>
          <a:p>
            <a:pPr algn="ctr"/>
            <a:r>
              <a:rPr sz="1000" b="1">
                <a:solidFill>
                  <a:srgbClr val="F5C518"/>
                </a:solidFill>
                <a:latin typeface="Arial"/>
              </a:rPr>
              <a:t>LOW COST</a:t>
            </a:r>
          </a:p>
        </p:txBody>
      </p:sp>
      <p:sp>
        <p:nvSpPr>
          <p:cNvPr id="23" name="Rounded Rectangle 22"/>
          <p:cNvSpPr/>
          <p:nvPr/>
        </p:nvSpPr>
        <p:spPr>
          <a:xfrm>
            <a:off x="8162848" y="3840480"/>
            <a:ext cx="1225295"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2848" y="3840480"/>
            <a:ext cx="1225295" cy="365760"/>
          </a:xfrm>
          <a:prstGeom prst="rect">
            <a:avLst/>
          </a:prstGeom>
          <a:noFill/>
        </p:spPr>
        <p:txBody>
          <a:bodyPr wrap="square" anchor="ctr" lIns="0" rIns="0" tIns="0" bIns="0">
            <a:spAutoFit/>
          </a:bodyPr>
          <a:lstStyle/>
          <a:p>
            <a:pPr algn="ctr"/>
            <a:r>
              <a:rPr sz="1000" b="1">
                <a:solidFill>
                  <a:srgbClr val="F5C518"/>
                </a:solidFill>
                <a:latin typeface="Arial"/>
              </a:rPr>
              <a:t>HIGH TRUST</a:t>
            </a:r>
          </a:p>
        </p:txBody>
      </p:sp>
      <p:sp>
        <p:nvSpPr>
          <p:cNvPr id="25" name="Rounded Rectangle 24"/>
          <p:cNvSpPr/>
          <p:nvPr/>
        </p:nvSpPr>
        <p:spPr>
          <a:xfrm>
            <a:off x="9525303" y="3840480"/>
            <a:ext cx="1135684" cy="365760"/>
          </a:xfrm>
          <a:prstGeom prst="roundRect">
            <a:avLst>
              <a:gd name="adj" fmla="val 50000"/>
            </a:avLst>
          </a:prstGeom>
          <a:no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25303" y="3840480"/>
            <a:ext cx="1135684" cy="365760"/>
          </a:xfrm>
          <a:prstGeom prst="rect">
            <a:avLst/>
          </a:prstGeom>
          <a:noFill/>
        </p:spPr>
        <p:txBody>
          <a:bodyPr wrap="square" anchor="ctr" lIns="0" rIns="0" tIns="0" bIns="0">
            <a:spAutoFit/>
          </a:bodyPr>
          <a:lstStyle/>
          <a:p>
            <a:pPr algn="ctr"/>
            <a:r>
              <a:rPr sz="1000" b="1">
                <a:solidFill>
                  <a:srgbClr val="F5C518"/>
                </a:solidFill>
                <a:latin typeface="Arial"/>
              </a:rPr>
              <a:t>ALWAYS-ON</a:t>
            </a:r>
          </a:p>
        </p:txBody>
      </p:sp>
      <p:sp>
        <p:nvSpPr>
          <p:cNvPr id="27" name="Right Arrow 26"/>
          <p:cNvSpPr/>
          <p:nvPr/>
        </p:nvSpPr>
        <p:spPr>
          <a:xfrm>
            <a:off x="5748375" y="3268980"/>
            <a:ext cx="694944" cy="548640"/>
          </a:xfrm>
          <a:prstGeom prst="rightArrow">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85800" y="4937760"/>
            <a:ext cx="64008" cy="68580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937760"/>
            <a:ext cx="3454298" cy="365760"/>
          </a:xfrm>
          <a:prstGeom prst="rect">
            <a:avLst/>
          </a:prstGeom>
          <a:noFill/>
        </p:spPr>
        <p:txBody>
          <a:bodyPr wrap="square" anchor="t" lIns="0" rIns="0" tIns="0" bIns="0">
            <a:spAutoFit/>
          </a:bodyPr>
          <a:lstStyle/>
          <a:p>
            <a:pPr algn="l"/>
            <a:r>
              <a:rPr sz="1800" b="0">
                <a:solidFill>
                  <a:srgbClr val="FFFFFF"/>
                </a:solidFill>
                <a:latin typeface="Arial Black"/>
              </a:rPr>
              <a:t>Employees</a:t>
            </a:r>
          </a:p>
        </p:txBody>
      </p:sp>
      <p:sp>
        <p:nvSpPr>
          <p:cNvPr id="30" name="TextBox 29"/>
          <p:cNvSpPr txBox="1"/>
          <p:nvPr/>
        </p:nvSpPr>
        <p:spPr>
          <a:xfrm>
            <a:off x="914400" y="5321808"/>
            <a:ext cx="3454298" cy="320040"/>
          </a:xfrm>
          <a:prstGeom prst="rect">
            <a:avLst/>
          </a:prstGeom>
          <a:noFill/>
        </p:spPr>
        <p:txBody>
          <a:bodyPr wrap="square" anchor="t" lIns="0" rIns="0" tIns="0" bIns="0">
            <a:spAutoFit/>
          </a:bodyPr>
          <a:lstStyle/>
          <a:p>
            <a:pPr algn="l"/>
            <a:r>
              <a:rPr sz="1300" b="0">
                <a:solidFill>
                  <a:srgbClr val="A0A0A0"/>
                </a:solidFill>
                <a:latin typeface="Arial"/>
              </a:rPr>
              <a:t>Our people, their homes</a:t>
            </a:r>
          </a:p>
        </p:txBody>
      </p:sp>
      <p:sp>
        <p:nvSpPr>
          <p:cNvPr id="31" name="Rectangle 30"/>
          <p:cNvSpPr/>
          <p:nvPr/>
        </p:nvSpPr>
        <p:spPr>
          <a:xfrm>
            <a:off x="4368698" y="4937760"/>
            <a:ext cx="64008" cy="68580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97298" y="4937760"/>
            <a:ext cx="3454298" cy="365760"/>
          </a:xfrm>
          <a:prstGeom prst="rect">
            <a:avLst/>
          </a:prstGeom>
          <a:noFill/>
        </p:spPr>
        <p:txBody>
          <a:bodyPr wrap="square" anchor="t" lIns="0" rIns="0" tIns="0" bIns="0">
            <a:spAutoFit/>
          </a:bodyPr>
          <a:lstStyle/>
          <a:p>
            <a:pPr algn="l"/>
            <a:r>
              <a:rPr sz="1800" b="0">
                <a:solidFill>
                  <a:srgbClr val="FFFFFF"/>
                </a:solidFill>
                <a:latin typeface="Arial Black"/>
              </a:rPr>
              <a:t>Real Users</a:t>
            </a:r>
          </a:p>
        </p:txBody>
      </p:sp>
      <p:sp>
        <p:nvSpPr>
          <p:cNvPr id="33" name="TextBox 32"/>
          <p:cNvSpPr txBox="1"/>
          <p:nvPr/>
        </p:nvSpPr>
        <p:spPr>
          <a:xfrm>
            <a:off x="4597298" y="5321808"/>
            <a:ext cx="3454298" cy="320040"/>
          </a:xfrm>
          <a:prstGeom prst="rect">
            <a:avLst/>
          </a:prstGeom>
          <a:noFill/>
        </p:spPr>
        <p:txBody>
          <a:bodyPr wrap="square" anchor="t" lIns="0" rIns="0" tIns="0" bIns="0">
            <a:spAutoFit/>
          </a:bodyPr>
          <a:lstStyle/>
          <a:p>
            <a:pPr algn="l"/>
            <a:r>
              <a:rPr sz="1300" b="0">
                <a:solidFill>
                  <a:srgbClr val="A0A0A0"/>
                </a:solidFill>
                <a:latin typeface="Arial"/>
              </a:rPr>
              <a:t>Raw, phone-shot moments</a:t>
            </a:r>
          </a:p>
        </p:txBody>
      </p:sp>
      <p:sp>
        <p:nvSpPr>
          <p:cNvPr id="34" name="Rectangle 33"/>
          <p:cNvSpPr/>
          <p:nvPr/>
        </p:nvSpPr>
        <p:spPr>
          <a:xfrm>
            <a:off x="8051596" y="4937760"/>
            <a:ext cx="64008" cy="68580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80196" y="4937760"/>
            <a:ext cx="3454298" cy="365760"/>
          </a:xfrm>
          <a:prstGeom prst="rect">
            <a:avLst/>
          </a:prstGeom>
          <a:noFill/>
        </p:spPr>
        <p:txBody>
          <a:bodyPr wrap="square" anchor="t" lIns="0" rIns="0" tIns="0" bIns="0">
            <a:spAutoFit/>
          </a:bodyPr>
          <a:lstStyle/>
          <a:p>
            <a:pPr algn="l"/>
            <a:r>
              <a:rPr sz="1800" b="0">
                <a:solidFill>
                  <a:srgbClr val="FFFFFF"/>
                </a:solidFill>
                <a:latin typeface="Arial Black"/>
              </a:rPr>
              <a:t>Creators</a:t>
            </a:r>
          </a:p>
        </p:txBody>
      </p:sp>
      <p:sp>
        <p:nvSpPr>
          <p:cNvPr id="36" name="TextBox 35"/>
          <p:cNvSpPr txBox="1"/>
          <p:nvPr/>
        </p:nvSpPr>
        <p:spPr>
          <a:xfrm>
            <a:off x="8280196" y="5321808"/>
            <a:ext cx="3454298" cy="320040"/>
          </a:xfrm>
          <a:prstGeom prst="rect">
            <a:avLst/>
          </a:prstGeom>
          <a:noFill/>
        </p:spPr>
        <p:txBody>
          <a:bodyPr wrap="square" anchor="t" lIns="0" rIns="0" tIns="0" bIns="0">
            <a:spAutoFit/>
          </a:bodyPr>
          <a:lstStyle/>
          <a:p>
            <a:pPr algn="l"/>
            <a:r>
              <a:rPr sz="1300" b="0">
                <a:solidFill>
                  <a:srgbClr val="A0A0A0"/>
                </a:solidFill>
                <a:latin typeface="Arial"/>
              </a:rPr>
              <a:t>Living-room takeovers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B0C"/>
        </a:solidFill>
        <a:effectLst/>
      </p:bgPr>
    </p:bg>
    <p:spTree>
      <p:nvGrpSpPr>
        <p:cNvPr id="1" name=""/>
        <p:cNvGrpSpPr/>
        <p:nvPr/>
      </p:nvGrpSpPr>
      <p:grpSpPr/>
      <p:sp>
        <p:nvSpPr>
          <p:cNvPr id="2" name="Rectangle 1"/>
          <p:cNvSpPr/>
          <p:nvPr/>
        </p:nvSpPr>
        <p:spPr>
          <a:xfrm>
            <a:off x="685800" y="566928"/>
            <a:ext cx="384048" cy="54864"/>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457200"/>
            <a:ext cx="8229600" cy="274320"/>
          </a:xfrm>
          <a:prstGeom prst="rect">
            <a:avLst/>
          </a:prstGeom>
          <a:noFill/>
        </p:spPr>
        <p:txBody>
          <a:bodyPr wrap="square" anchor="t" lIns="0" rIns="0" tIns="0" bIns="0">
            <a:spAutoFit/>
          </a:bodyPr>
          <a:lstStyle/>
          <a:p>
            <a:pPr algn="l"/>
            <a:r>
              <a:rPr sz="1100" b="1" spc="300">
                <a:solidFill>
                  <a:srgbClr val="F5C518"/>
                </a:solidFill>
                <a:latin typeface="Arial"/>
              </a:rPr>
              <a:t>ROADMAP</a:t>
            </a:r>
          </a:p>
        </p:txBody>
      </p:sp>
      <p:sp>
        <p:nvSpPr>
          <p:cNvPr id="4" name="TextBox 3"/>
          <p:cNvSpPr txBox="1"/>
          <p:nvPr/>
        </p:nvSpPr>
        <p:spPr>
          <a:xfrm>
            <a:off x="685800" y="868680"/>
            <a:ext cx="10820095" cy="731520"/>
          </a:xfrm>
          <a:prstGeom prst="rect">
            <a:avLst/>
          </a:prstGeom>
          <a:noFill/>
        </p:spPr>
        <p:txBody>
          <a:bodyPr wrap="square" anchor="t" lIns="0" rIns="0" tIns="0" bIns="0">
            <a:spAutoFit/>
          </a:bodyPr>
          <a:lstStyle/>
          <a:p>
            <a:pPr algn="l"/>
            <a:r>
              <a:rPr sz="3200" b="0">
                <a:solidFill>
                  <a:srgbClr val="FFFFFF"/>
                </a:solidFill>
                <a:latin typeface="Arial Black"/>
              </a:rPr>
              <a:t>The Road to CES 2027 &amp; Beyond.</a:t>
            </a:r>
          </a:p>
        </p:txBody>
      </p:sp>
      <p:sp>
        <p:nvSpPr>
          <p:cNvPr id="5" name="TextBox 4"/>
          <p:cNvSpPr txBox="1"/>
          <p:nvPr/>
        </p:nvSpPr>
        <p:spPr>
          <a:xfrm>
            <a:off x="685800" y="1645920"/>
            <a:ext cx="10820095" cy="411480"/>
          </a:xfrm>
          <a:prstGeom prst="rect">
            <a:avLst/>
          </a:prstGeom>
          <a:noFill/>
        </p:spPr>
        <p:txBody>
          <a:bodyPr wrap="square" anchor="t" lIns="0" rIns="0" tIns="0" bIns="0">
            <a:spAutoFit/>
          </a:bodyPr>
          <a:lstStyle/>
          <a:p>
            <a:pPr algn="l"/>
            <a:r>
              <a:rPr sz="1700" b="0">
                <a:solidFill>
                  <a:srgbClr val="A0A0A0"/>
                </a:solidFill>
                <a:latin typeface="Arial"/>
              </a:rPr>
              <a:t>One relaunch, one global anchor, then always-on growth.</a:t>
            </a:r>
          </a:p>
        </p:txBody>
      </p:sp>
      <p:sp>
        <p:nvSpPr>
          <p:cNvPr id="6" name="TextBox 5"/>
          <p:cNvSpPr txBox="1"/>
          <p:nvPr/>
        </p:nvSpPr>
        <p:spPr>
          <a:xfrm>
            <a:off x="685800" y="6400800"/>
            <a:ext cx="5486400" cy="228600"/>
          </a:xfrm>
          <a:prstGeom prst="rect">
            <a:avLst/>
          </a:prstGeom>
          <a:noFill/>
        </p:spPr>
        <p:txBody>
          <a:bodyPr wrap="square" anchor="t" lIns="0" rIns="0" tIns="0" bIns="0">
            <a:spAutoFit/>
          </a:bodyPr>
          <a:lstStyle/>
          <a:p>
            <a:pPr algn="l"/>
            <a:r>
              <a:rPr sz="900" b="1" spc="200">
                <a:solidFill>
                  <a:srgbClr val="5E5E62"/>
                </a:solidFill>
                <a:latin typeface="Arial"/>
              </a:rPr>
              <a:t>V  |  SOCIAL STRATEGY 2026-2027</a:t>
            </a:r>
          </a:p>
        </p:txBody>
      </p:sp>
      <p:sp>
        <p:nvSpPr>
          <p:cNvPr id="7" name="TextBox 6"/>
          <p:cNvSpPr txBox="1"/>
          <p:nvPr/>
        </p:nvSpPr>
        <p:spPr>
          <a:xfrm>
            <a:off x="10591495" y="6400800"/>
            <a:ext cx="914400" cy="228600"/>
          </a:xfrm>
          <a:prstGeom prst="rect">
            <a:avLst/>
          </a:prstGeom>
          <a:noFill/>
        </p:spPr>
        <p:txBody>
          <a:bodyPr wrap="square" anchor="t" lIns="0" rIns="0" tIns="0" bIns="0">
            <a:spAutoFit/>
          </a:bodyPr>
          <a:lstStyle/>
          <a:p>
            <a:pPr algn="r"/>
            <a:r>
              <a:rPr sz="900" b="1" spc="200">
                <a:solidFill>
                  <a:srgbClr val="5E5E62"/>
                </a:solidFill>
                <a:latin typeface="Arial"/>
              </a:rPr>
              <a:t>07 / 07</a:t>
            </a:r>
          </a:p>
        </p:txBody>
      </p:sp>
      <p:sp>
        <p:nvSpPr>
          <p:cNvPr id="8" name="Rectangle 7"/>
          <p:cNvSpPr/>
          <p:nvPr/>
        </p:nvSpPr>
        <p:spPr>
          <a:xfrm>
            <a:off x="685800" y="2944368"/>
            <a:ext cx="10820095" cy="54864"/>
          </a:xfrm>
          <a:prstGeom prst="rect">
            <a:avLst/>
          </a:prstGeom>
          <a:solidFill>
            <a:srgbClr val="2C2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944368"/>
            <a:ext cx="5951052" cy="54864"/>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342845" y="2825496"/>
            <a:ext cx="292608" cy="292608"/>
          </a:xfrm>
          <a:prstGeom prst="ellipse">
            <a:avLst/>
          </a:prstGeom>
          <a:solidFill>
            <a:srgbClr val="F5C518"/>
          </a:solidFill>
          <a:ln w="31750">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703320"/>
            <a:ext cx="3606698" cy="274320"/>
          </a:xfrm>
          <a:prstGeom prst="rect">
            <a:avLst/>
          </a:prstGeom>
          <a:noFill/>
        </p:spPr>
        <p:txBody>
          <a:bodyPr wrap="square" anchor="t" lIns="0" rIns="0" tIns="0" bIns="0">
            <a:spAutoFit/>
          </a:bodyPr>
          <a:lstStyle/>
          <a:p>
            <a:pPr algn="ctr"/>
            <a:r>
              <a:rPr sz="1200" b="1" spc="300">
                <a:solidFill>
                  <a:srgbClr val="F5C518"/>
                </a:solidFill>
                <a:latin typeface="Arial"/>
              </a:rPr>
              <a:t>Q4 2026</a:t>
            </a:r>
          </a:p>
        </p:txBody>
      </p:sp>
      <p:sp>
        <p:nvSpPr>
          <p:cNvPr id="12" name="TextBox 11"/>
          <p:cNvSpPr txBox="1"/>
          <p:nvPr/>
        </p:nvSpPr>
        <p:spPr>
          <a:xfrm>
            <a:off x="685800" y="4023360"/>
            <a:ext cx="3606698" cy="457200"/>
          </a:xfrm>
          <a:prstGeom prst="rect">
            <a:avLst/>
          </a:prstGeom>
          <a:noFill/>
        </p:spPr>
        <p:txBody>
          <a:bodyPr wrap="square" anchor="t" lIns="0" rIns="0" tIns="0" bIns="0">
            <a:spAutoFit/>
          </a:bodyPr>
          <a:lstStyle/>
          <a:p>
            <a:pPr algn="ctr"/>
            <a:r>
              <a:rPr sz="2200" b="0">
                <a:solidFill>
                  <a:srgbClr val="FFFFFF"/>
                </a:solidFill>
                <a:latin typeface="Arial Black"/>
              </a:rPr>
              <a:t>Relaunch</a:t>
            </a:r>
          </a:p>
        </p:txBody>
      </p:sp>
      <p:sp>
        <p:nvSpPr>
          <p:cNvPr id="13" name="TextBox 12"/>
          <p:cNvSpPr txBox="1"/>
          <p:nvPr/>
        </p:nvSpPr>
        <p:spPr>
          <a:xfrm>
            <a:off x="960120" y="4572000"/>
            <a:ext cx="3058058" cy="731520"/>
          </a:xfrm>
          <a:prstGeom prst="rect">
            <a:avLst/>
          </a:prstGeom>
          <a:noFill/>
        </p:spPr>
        <p:txBody>
          <a:bodyPr wrap="square" anchor="t" lIns="0" rIns="0" tIns="0" bIns="0">
            <a:spAutoFit/>
          </a:bodyPr>
          <a:lstStyle/>
          <a:p>
            <a:pPr algn="ctr"/>
            <a:r>
              <a:rPr sz="1300" b="0">
                <a:solidFill>
                  <a:srgbClr val="A0A0A0"/>
                </a:solidFill>
                <a:latin typeface="Arial"/>
              </a:rPr>
              <a:t>9-grid Instagram reveal</a:t>
            </a:r>
          </a:p>
          <a:p>
            <a:pPr algn="ctr"/>
            <a:r>
              <a:rPr sz="1300" b="0">
                <a:solidFill>
                  <a:srgbClr val="A0A0A0"/>
                </a:solidFill>
                <a:latin typeface="Arial"/>
              </a:rPr>
              <a:t>LinkedIn exec cadence live</a:t>
            </a:r>
          </a:p>
        </p:txBody>
      </p:sp>
      <p:sp>
        <p:nvSpPr>
          <p:cNvPr id="14" name="Oval 13"/>
          <p:cNvSpPr/>
          <p:nvPr/>
        </p:nvSpPr>
        <p:spPr>
          <a:xfrm>
            <a:off x="5844387" y="2720340"/>
            <a:ext cx="502920" cy="502920"/>
          </a:xfrm>
          <a:prstGeom prst="ellipse">
            <a:avLst/>
          </a:prstGeom>
          <a:solidFill>
            <a:srgbClr val="F5C518"/>
          </a:solidFill>
          <a:ln w="31750">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83938" y="3474720"/>
            <a:ext cx="3423818" cy="1920240"/>
          </a:xfrm>
          <a:prstGeom prst="roundRect">
            <a:avLst>
              <a:gd name="adj" fmla="val 6000"/>
            </a:avLst>
          </a:prstGeom>
          <a:solidFill>
            <a:srgbClr val="1E1E21"/>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2498" y="3703320"/>
            <a:ext cx="3606698" cy="274320"/>
          </a:xfrm>
          <a:prstGeom prst="rect">
            <a:avLst/>
          </a:prstGeom>
          <a:noFill/>
        </p:spPr>
        <p:txBody>
          <a:bodyPr wrap="square" anchor="t" lIns="0" rIns="0" tIns="0" bIns="0">
            <a:spAutoFit/>
          </a:bodyPr>
          <a:lstStyle/>
          <a:p>
            <a:pPr algn="ctr"/>
            <a:r>
              <a:rPr sz="1200" b="1" spc="300">
                <a:solidFill>
                  <a:srgbClr val="F5C518"/>
                </a:solidFill>
                <a:latin typeface="Arial"/>
              </a:rPr>
              <a:t>JAN 2027</a:t>
            </a:r>
          </a:p>
        </p:txBody>
      </p:sp>
      <p:sp>
        <p:nvSpPr>
          <p:cNvPr id="17" name="TextBox 16"/>
          <p:cNvSpPr txBox="1"/>
          <p:nvPr/>
        </p:nvSpPr>
        <p:spPr>
          <a:xfrm>
            <a:off x="4292498" y="4023360"/>
            <a:ext cx="3606698" cy="457200"/>
          </a:xfrm>
          <a:prstGeom prst="rect">
            <a:avLst/>
          </a:prstGeom>
          <a:noFill/>
        </p:spPr>
        <p:txBody>
          <a:bodyPr wrap="square" anchor="t" lIns="0" rIns="0" tIns="0" bIns="0">
            <a:spAutoFit/>
          </a:bodyPr>
          <a:lstStyle/>
          <a:p>
            <a:pPr algn="ctr"/>
            <a:r>
              <a:rPr sz="2200" b="0">
                <a:solidFill>
                  <a:srgbClr val="FFFFFF"/>
                </a:solidFill>
                <a:latin typeface="Arial Black"/>
              </a:rPr>
              <a:t>CES Las Vegas</a:t>
            </a:r>
          </a:p>
        </p:txBody>
      </p:sp>
      <p:sp>
        <p:nvSpPr>
          <p:cNvPr id="18" name="TextBox 17"/>
          <p:cNvSpPr txBox="1"/>
          <p:nvPr/>
        </p:nvSpPr>
        <p:spPr>
          <a:xfrm>
            <a:off x="4566818" y="4572000"/>
            <a:ext cx="3058058" cy="731520"/>
          </a:xfrm>
          <a:prstGeom prst="rect">
            <a:avLst/>
          </a:prstGeom>
          <a:noFill/>
        </p:spPr>
        <p:txBody>
          <a:bodyPr wrap="square" anchor="t" lIns="0" rIns="0" tIns="0" bIns="0">
            <a:spAutoFit/>
          </a:bodyPr>
          <a:lstStyle/>
          <a:p>
            <a:pPr algn="ctr"/>
            <a:r>
              <a:rPr sz="1300" b="0">
                <a:solidFill>
                  <a:srgbClr val="A0A0A0"/>
                </a:solidFill>
                <a:latin typeface="Arial"/>
              </a:rPr>
              <a:t>Live BTS executive coverage</a:t>
            </a:r>
          </a:p>
          <a:p>
            <a:pPr algn="ctr"/>
            <a:r>
              <a:rPr sz="1300" b="0">
                <a:solidFill>
                  <a:srgbClr val="A0A0A0"/>
                </a:solidFill>
                <a:latin typeface="Arial"/>
              </a:rPr>
              <a:t>Creator living-room takeovers</a:t>
            </a:r>
          </a:p>
        </p:txBody>
      </p:sp>
      <p:sp>
        <p:nvSpPr>
          <p:cNvPr id="19" name="Oval 18"/>
          <p:cNvSpPr/>
          <p:nvPr/>
        </p:nvSpPr>
        <p:spPr>
          <a:xfrm>
            <a:off x="9556241" y="2825496"/>
            <a:ext cx="292608" cy="292608"/>
          </a:xfrm>
          <a:prstGeom prst="ellipse">
            <a:avLst/>
          </a:prstGeom>
          <a:solidFill>
            <a:srgbClr val="0B0B0C"/>
          </a:solidFill>
          <a:ln w="31750">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99196" y="3703320"/>
            <a:ext cx="3606698" cy="274320"/>
          </a:xfrm>
          <a:prstGeom prst="rect">
            <a:avLst/>
          </a:prstGeom>
          <a:noFill/>
        </p:spPr>
        <p:txBody>
          <a:bodyPr wrap="square" anchor="t" lIns="0" rIns="0" tIns="0" bIns="0">
            <a:spAutoFit/>
          </a:bodyPr>
          <a:lstStyle/>
          <a:p>
            <a:pPr algn="ctr"/>
            <a:r>
              <a:rPr sz="1200" b="1" spc="300">
                <a:solidFill>
                  <a:srgbClr val="F5C518"/>
                </a:solidFill>
                <a:latin typeface="Arial"/>
              </a:rPr>
              <a:t>2027</a:t>
            </a:r>
          </a:p>
        </p:txBody>
      </p:sp>
      <p:sp>
        <p:nvSpPr>
          <p:cNvPr id="21" name="TextBox 20"/>
          <p:cNvSpPr txBox="1"/>
          <p:nvPr/>
        </p:nvSpPr>
        <p:spPr>
          <a:xfrm>
            <a:off x="7899196" y="4023360"/>
            <a:ext cx="3606698" cy="457200"/>
          </a:xfrm>
          <a:prstGeom prst="rect">
            <a:avLst/>
          </a:prstGeom>
          <a:noFill/>
        </p:spPr>
        <p:txBody>
          <a:bodyPr wrap="square" anchor="t" lIns="0" rIns="0" tIns="0" bIns="0">
            <a:spAutoFit/>
          </a:bodyPr>
          <a:lstStyle/>
          <a:p>
            <a:pPr algn="ctr"/>
            <a:r>
              <a:rPr sz="2200" b="0">
                <a:solidFill>
                  <a:srgbClr val="FFFFFF"/>
                </a:solidFill>
                <a:latin typeface="Arial Black"/>
              </a:rPr>
              <a:t>Always-On Growth</a:t>
            </a:r>
          </a:p>
        </p:txBody>
      </p:sp>
      <p:sp>
        <p:nvSpPr>
          <p:cNvPr id="22" name="TextBox 21"/>
          <p:cNvSpPr txBox="1"/>
          <p:nvPr/>
        </p:nvSpPr>
        <p:spPr>
          <a:xfrm>
            <a:off x="8173516" y="4572000"/>
            <a:ext cx="3058058" cy="731520"/>
          </a:xfrm>
          <a:prstGeom prst="rect">
            <a:avLst/>
          </a:prstGeom>
          <a:noFill/>
        </p:spPr>
        <p:txBody>
          <a:bodyPr wrap="square" anchor="t" lIns="0" rIns="0" tIns="0" bIns="0">
            <a:spAutoFit/>
          </a:bodyPr>
          <a:lstStyle/>
          <a:p>
            <a:pPr algn="ctr"/>
            <a:r>
              <a:rPr sz="1300" b="0">
                <a:solidFill>
                  <a:srgbClr val="A0A0A0"/>
                </a:solidFill>
                <a:latin typeface="Arial"/>
              </a:rPr>
              <a:t>Ambassadors at scale</a:t>
            </a:r>
          </a:p>
          <a:p>
            <a:pPr algn="ctr"/>
            <a:r>
              <a:rPr sz="1300" b="0">
                <a:solidFill>
                  <a:srgbClr val="A0A0A0"/>
                </a:solidFill>
                <a:latin typeface="Arial"/>
              </a:rPr>
              <a:t>Data-led B2B drumbeat</a:t>
            </a:r>
          </a:p>
        </p:txBody>
      </p:sp>
      <p:sp>
        <p:nvSpPr>
          <p:cNvPr id="23" name="Rounded Rectangle 22"/>
          <p:cNvSpPr/>
          <p:nvPr/>
        </p:nvSpPr>
        <p:spPr>
          <a:xfrm>
            <a:off x="5483199" y="2194560"/>
            <a:ext cx="1225295" cy="365760"/>
          </a:xfrm>
          <a:prstGeom prst="roundRect">
            <a:avLst>
              <a:gd name="adj" fmla="val 50000"/>
            </a:avLst>
          </a:prstGeom>
          <a:solidFill>
            <a:srgbClr val="F5C518"/>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3199" y="2194560"/>
            <a:ext cx="1225295" cy="365760"/>
          </a:xfrm>
          <a:prstGeom prst="rect">
            <a:avLst/>
          </a:prstGeom>
          <a:noFill/>
        </p:spPr>
        <p:txBody>
          <a:bodyPr wrap="square" anchor="ctr" lIns="0" rIns="0" tIns="0" bIns="0">
            <a:spAutoFit/>
          </a:bodyPr>
          <a:lstStyle/>
          <a:p>
            <a:pPr algn="ctr"/>
            <a:r>
              <a:rPr sz="1000" b="1">
                <a:solidFill>
                  <a:srgbClr val="0B0B0C"/>
                </a:solidFill>
                <a:latin typeface="Arial"/>
              </a:rPr>
              <a:t>THE ANCHOR</a:t>
            </a:r>
          </a:p>
        </p:txBody>
      </p:sp>
      <p:sp>
        <p:nvSpPr>
          <p:cNvPr id="25" name="Rounded Rectangle 24"/>
          <p:cNvSpPr/>
          <p:nvPr/>
        </p:nvSpPr>
        <p:spPr>
          <a:xfrm>
            <a:off x="685800" y="5532120"/>
            <a:ext cx="10820095" cy="548640"/>
          </a:xfrm>
          <a:prstGeom prst="roundRect">
            <a:avLst>
              <a:gd name="adj" fmla="val 20000"/>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532120"/>
            <a:ext cx="10820095" cy="548640"/>
          </a:xfrm>
          <a:prstGeom prst="rect">
            <a:avLst/>
          </a:prstGeom>
          <a:noFill/>
        </p:spPr>
        <p:txBody>
          <a:bodyPr wrap="square" anchor="ctr" lIns="0" rIns="0" tIns="0" bIns="0">
            <a:spAutoFit/>
          </a:bodyPr>
          <a:lstStyle/>
          <a:p>
            <a:pPr algn="ctr"/>
            <a:r>
              <a:rPr sz="1500" b="0">
                <a:solidFill>
                  <a:srgbClr val="0B0B0C"/>
                </a:solidFill>
                <a:latin typeface="Arial Black"/>
              </a:rPr>
              <a:t>DECISION TODAY:  GREENLIGHT THE Q4 RELAUNCH + CES 2027 ACTIVATION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