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V is no longer a platform people use without noticing; from today it is a brand people choose. In five minutes I will show you how social turns V into the name OEMs sign with and families talk about.</a:t>
            </a:r>
          </a:p>
          <a:p/>
          <a:p>
            <a:r>
              <a:t>IF CEO ASKS: Why rebrand on social first?</a:t>
            </a:r>
          </a:p>
          <a:p>
            <a:r>
              <a:t>ANSWER: Because social is where OEMs, advertisers and buyers already judge us, every day, for free.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benchmarked LG, Samsung, Roku, Apple, Google, Android and Microsoft, and almost all of them talk about features, not about life at home. Nobody combines industry authority with real living-room emotion, and that gap is exactly where V plants its flag.</a:t>
            </a:r>
          </a:p>
          <a:p/>
          <a:p>
            <a:r>
              <a:t>IF CEO ASKS: Can't Samsung or LG just copy us?</a:t>
            </a:r>
          </a:p>
          <a:p>
            <a:r>
              <a:t>ANSWER: They're locked into their own hardware; V is the independent OS every OEM can partner with.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deliberately split the work: LinkedIn is our sales tool for OEMs and advertisers, and Instagram is our brand tool for the people on the sofa. Same black, white and gold identity, but each channel has one business job and one scorecard.</a:t>
            </a:r>
          </a:p>
          <a:p/>
          <a:p>
            <a:r>
              <a:t>IF CEO ASKS: Why not just be everywhere?</a:t>
            </a:r>
          </a:p>
          <a:p>
            <a:r>
              <a:t>ANSWER: Focus wins: two channels done brilliantly beat seven done averagely.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 LinkedIn we lead with proprietary-style insight like the McKinsey viewing data, packaged as sharp visual posts, and we put our executives' faces and opinions in front of the industry. The goal is simple: when an OEM or media buyer thinks about the future of TV, they think of V.</a:t>
            </a:r>
          </a:p>
          <a:p/>
          <a:p>
            <a:r>
              <a:t>IF CEO ASKS: Do I have to post personally?</a:t>
            </a:r>
          </a:p>
          <a:p>
            <a:r>
              <a:t>ANSWER: Once a month, ghost-drafted for you; 10 minutes of your time, the most valuable reach we have.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launch with a 9-grid that turns our Instagram profile into one big living room, then keep it alive with real, uncurated sofa moments instead of glossy product renders. People don't buy an operating system, they buy the feeling of Friday night, and V owns that feeling.</a:t>
            </a:r>
          </a:p>
          <a:p/>
          <a:p>
            <a:r>
              <a:t>IF CEO ASKS: Where's the product in these shots?</a:t>
            </a:r>
          </a:p>
          <a:p>
            <a:r>
              <a:t>ANSWER: On the screen, every time; the product is the hero, the home is the proof.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YouTube gives V a permanent home for demos and stories, and creators and ambassadors carry our message into audiences that would never follow a tech brand. It is the fastest way to earn trust, because people believe people, not logos.</a:t>
            </a:r>
          </a:p>
          <a:p/>
          <a:p>
            <a:r>
              <a:t>IF CEO ASKS: How do we control what creators say?</a:t>
            </a:r>
          </a:p>
          <a:p>
            <a:r>
              <a:t>ANSWER: Clear brief, approval gate, paid only on delivery.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I'm asking for one decision today: approve the 90-day plan and the budget, and lend us your voice once a month on LinkedIn. In 90 days I'll come back with the numbers that matter: OEM and advertiser leads, and how many more people search for V by name.</a:t>
            </a:r>
          </a:p>
          <a:p/>
          <a:p>
            <a:r>
              <a:t>IF CEO ASKS: What if it doesn't work?</a:t>
            </a:r>
          </a:p>
          <a:p>
            <a:r>
              <a:t>ANSWER: Day-60 checkpoint: we cut what doesn't convert and move the money to what does.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 y="0"/>
            <a:ext cx="11917375" cy="6858000"/>
          </a:xfrm>
          <a:prstGeom prst="rect">
            <a:avLst/>
          </a:prstGeom>
          <a:noFill/>
        </p:spPr>
        <p:txBody>
          <a:bodyPr wrap="square" anchor="ctr" lIns="0" rIns="0" tIns="0" bIns="0">
            <a:spAutoFit/>
          </a:bodyPr>
          <a:lstStyle/>
          <a:p>
            <a:pPr algn="ctr"/>
            <a:r>
              <a:rPr sz="1000" b="0">
                <a:solidFill>
                  <a:srgbClr val="9A9A9A"/>
                </a:solidFill>
                <a:latin typeface="Montserrat"/>
              </a:rPr>
              <a:t>HERO: cinematic dark living room, TV glowing with V UI (Plan PDF cover / launch key visual)</a:t>
            </a:r>
          </a:p>
          <a:p>
            <a:pPr algn="ctr"/>
            <a:r>
              <a:rPr sz="1000" b="0">
                <a:solidFill>
                  <a:srgbClr val="9A9A9A"/>
                </a:solidFill>
                <a:latin typeface="Montserrat"/>
              </a:rPr>
              <a:t>assets/01_hero_living_room.png</a:t>
            </a:r>
          </a:p>
        </p:txBody>
      </p:sp>
      <p:sp>
        <p:nvSpPr>
          <p:cNvPr id="4" name="Rectangle 3"/>
          <p:cNvSpPr/>
          <p:nvPr/>
        </p:nvSpPr>
        <p:spPr>
          <a:xfrm>
            <a:off x="0" y="3931920"/>
            <a:ext cx="12191695" cy="292608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160520"/>
            <a:ext cx="3657600" cy="822960"/>
          </a:xfrm>
          <a:prstGeom prst="rect">
            <a:avLst/>
          </a:prstGeom>
          <a:noFill/>
        </p:spPr>
        <p:txBody>
          <a:bodyPr wrap="square" anchor="t" lIns="0" rIns="0" tIns="0" bIns="0">
            <a:spAutoFit/>
          </a:bodyPr>
          <a:lstStyle/>
          <a:p>
            <a:pPr algn="l"/>
            <a:r>
              <a:rPr sz="6000" b="1">
                <a:solidFill>
                  <a:srgbClr val="F5C518"/>
                </a:solidFill>
                <a:latin typeface="Montserrat"/>
              </a:rPr>
              <a:t>V</a:t>
            </a:r>
          </a:p>
        </p:txBody>
      </p:sp>
      <p:sp>
        <p:nvSpPr>
          <p:cNvPr id="6" name="TextBox 5"/>
          <p:cNvSpPr txBox="1"/>
          <p:nvPr/>
        </p:nvSpPr>
        <p:spPr>
          <a:xfrm>
            <a:off x="640080" y="4983480"/>
            <a:ext cx="10972800" cy="822960"/>
          </a:xfrm>
          <a:prstGeom prst="rect">
            <a:avLst/>
          </a:prstGeom>
          <a:noFill/>
        </p:spPr>
        <p:txBody>
          <a:bodyPr wrap="square" anchor="t" lIns="0" rIns="0" tIns="0" bIns="0">
            <a:spAutoFit/>
          </a:bodyPr>
          <a:lstStyle/>
          <a:p>
            <a:pPr algn="l"/>
            <a:r>
              <a:rPr sz="4400" b="1">
                <a:solidFill>
                  <a:srgbClr val="FFFFFF"/>
                </a:solidFill>
                <a:latin typeface="Montserrat"/>
              </a:rPr>
              <a:t>Built to Be Seen.</a:t>
            </a:r>
          </a:p>
        </p:txBody>
      </p:sp>
      <p:sp>
        <p:nvSpPr>
          <p:cNvPr id="7" name="TextBox 6"/>
          <p:cNvSpPr txBox="1"/>
          <p:nvPr/>
        </p:nvSpPr>
        <p:spPr>
          <a:xfrm>
            <a:off x="640080" y="5806440"/>
            <a:ext cx="10972800" cy="457200"/>
          </a:xfrm>
          <a:prstGeom prst="rect">
            <a:avLst/>
          </a:prstGeom>
          <a:noFill/>
        </p:spPr>
        <p:txBody>
          <a:bodyPr wrap="square" anchor="t" lIns="0" rIns="0" tIns="0" bIns="0">
            <a:spAutoFit/>
          </a:bodyPr>
          <a:lstStyle/>
          <a:p>
            <a:pPr algn="l"/>
            <a:r>
              <a:rPr sz="1800" b="0">
                <a:solidFill>
                  <a:srgbClr val="9A9A9A"/>
                </a:solidFill>
                <a:latin typeface="Montserrat"/>
              </a:rPr>
              <a:t>One OS. Two audiences. One social engine that sells both.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anchor="t" lIns="0" rIns="0" tIns="0" bIns="0">
            <a:spAutoFit/>
          </a:bodyPr>
          <a:lstStyle/>
          <a:p>
            <a:pPr algn="l"/>
            <a:r>
              <a:rPr sz="1100" b="1" spc="300">
                <a:solidFill>
                  <a:srgbClr val="F5C518"/>
                </a:solidFill>
                <a:latin typeface="Montserrat"/>
              </a:rPr>
              <a:t>02  /  COMPETITIVE BENCHMARK</a:t>
            </a:r>
          </a:p>
        </p:txBody>
      </p:sp>
      <p:sp>
        <p:nvSpPr>
          <p:cNvPr id="3" name="TextBox 2"/>
          <p:cNvSpPr txBox="1"/>
          <p:nvPr/>
        </p:nvSpPr>
        <p:spPr>
          <a:xfrm>
            <a:off x="640080" y="777240"/>
            <a:ext cx="10972800" cy="822960"/>
          </a:xfrm>
          <a:prstGeom prst="rect">
            <a:avLst/>
          </a:prstGeom>
          <a:noFill/>
        </p:spPr>
        <p:txBody>
          <a:bodyPr wrap="square" anchor="t" lIns="0" rIns="0" tIns="0" bIns="0">
            <a:spAutoFit/>
          </a:bodyPr>
          <a:lstStyle/>
          <a:p>
            <a:pPr algn="l"/>
            <a:r>
              <a:rPr sz="3000" b="1">
                <a:solidFill>
                  <a:srgbClr val="FFFFFF"/>
                </a:solidFill>
                <a:latin typeface="Montserrat"/>
              </a:rPr>
              <a:t>Giants Sell Specs. No One Owns the Home.</a:t>
            </a:r>
          </a:p>
        </p:txBody>
      </p:sp>
      <p:sp>
        <p:nvSpPr>
          <p:cNvPr id="4" name="TextBox 3"/>
          <p:cNvSpPr txBox="1"/>
          <p:nvPr/>
        </p:nvSpPr>
        <p:spPr>
          <a:xfrm>
            <a:off x="640080" y="1554480"/>
            <a:ext cx="10515600" cy="457200"/>
          </a:xfrm>
          <a:prstGeom prst="rect">
            <a:avLst/>
          </a:prstGeom>
          <a:noFill/>
        </p:spPr>
        <p:txBody>
          <a:bodyPr wrap="square" anchor="t" lIns="0" rIns="0" tIns="0" bIns="0">
            <a:spAutoFit/>
          </a:bodyPr>
          <a:lstStyle/>
          <a:p>
            <a:pPr algn="l"/>
            <a:r>
              <a:rPr sz="1600" b="0">
                <a:solidFill>
                  <a:srgbClr val="9A9A9A"/>
                </a:solidFill>
                <a:latin typeface="Montserrat"/>
              </a:rPr>
              <a:t>Seven OS brands benchmarked. The lifestyle + authority space is wide open.</a:t>
            </a:r>
          </a:p>
        </p:txBody>
      </p:sp>
      <p:sp>
        <p:nvSpPr>
          <p:cNvPr id="5" name="Rectangle 4"/>
          <p:cNvSpPr/>
          <p:nvPr/>
        </p:nvSpPr>
        <p:spPr>
          <a:xfrm>
            <a:off x="640080" y="2377440"/>
            <a:ext cx="1234440" cy="237744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377440"/>
            <a:ext cx="960120" cy="2377440"/>
          </a:xfrm>
          <a:prstGeom prst="rect">
            <a:avLst/>
          </a:prstGeom>
          <a:noFill/>
        </p:spPr>
        <p:txBody>
          <a:bodyPr wrap="square" anchor="ctr" lIns="0" rIns="0" tIns="0" bIns="0">
            <a:spAutoFit/>
          </a:bodyPr>
          <a:lstStyle/>
          <a:p>
            <a:pPr algn="ctr"/>
            <a:r>
              <a:rPr sz="1000" b="0">
                <a:solidFill>
                  <a:srgbClr val="9A9A9A"/>
                </a:solidFill>
                <a:latin typeface="Montserrat"/>
              </a:rPr>
              <a:t>LG webOS feed screenshot</a:t>
            </a:r>
          </a:p>
          <a:p>
            <a:pPr algn="ctr"/>
            <a:r>
              <a:rPr sz="1000" b="0">
                <a:solidFill>
                  <a:srgbClr val="9A9A9A"/>
                </a:solidFill>
                <a:latin typeface="Montserrat"/>
              </a:rPr>
              <a:t>assets/02_bench_01_lg.png</a:t>
            </a:r>
          </a:p>
        </p:txBody>
      </p:sp>
      <p:sp>
        <p:nvSpPr>
          <p:cNvPr id="7" name="TextBox 6"/>
          <p:cNvSpPr txBox="1"/>
          <p:nvPr/>
        </p:nvSpPr>
        <p:spPr>
          <a:xfrm>
            <a:off x="640080" y="4846320"/>
            <a:ext cx="1234440" cy="274320"/>
          </a:xfrm>
          <a:prstGeom prst="rect">
            <a:avLst/>
          </a:prstGeom>
          <a:noFill/>
        </p:spPr>
        <p:txBody>
          <a:bodyPr wrap="square" anchor="t" lIns="0" rIns="0" tIns="0" bIns="0">
            <a:spAutoFit/>
          </a:bodyPr>
          <a:lstStyle/>
          <a:p>
            <a:pPr algn="ctr"/>
            <a:r>
              <a:rPr sz="1100" b="0">
                <a:solidFill>
                  <a:srgbClr val="9A9A9A"/>
                </a:solidFill>
                <a:latin typeface="Montserrat"/>
              </a:rPr>
              <a:t>LG webOS</a:t>
            </a:r>
          </a:p>
        </p:txBody>
      </p:sp>
      <p:sp>
        <p:nvSpPr>
          <p:cNvPr id="8" name="Rectangle 7"/>
          <p:cNvSpPr/>
          <p:nvPr/>
        </p:nvSpPr>
        <p:spPr>
          <a:xfrm>
            <a:off x="1984248" y="2377440"/>
            <a:ext cx="1234440" cy="237744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21408" y="2377440"/>
            <a:ext cx="960120" cy="2377440"/>
          </a:xfrm>
          <a:prstGeom prst="rect">
            <a:avLst/>
          </a:prstGeom>
          <a:noFill/>
        </p:spPr>
        <p:txBody>
          <a:bodyPr wrap="square" anchor="ctr" lIns="0" rIns="0" tIns="0" bIns="0">
            <a:spAutoFit/>
          </a:bodyPr>
          <a:lstStyle/>
          <a:p>
            <a:pPr algn="ctr"/>
            <a:r>
              <a:rPr sz="1000" b="0">
                <a:solidFill>
                  <a:srgbClr val="9A9A9A"/>
                </a:solidFill>
                <a:latin typeface="Montserrat"/>
              </a:rPr>
              <a:t>Samsung Tizen feed screenshot</a:t>
            </a:r>
          </a:p>
          <a:p>
            <a:pPr algn="ctr"/>
            <a:r>
              <a:rPr sz="1000" b="0">
                <a:solidFill>
                  <a:srgbClr val="9A9A9A"/>
                </a:solidFill>
                <a:latin typeface="Montserrat"/>
              </a:rPr>
              <a:t>assets/02_bench_02_samsung.png</a:t>
            </a:r>
          </a:p>
        </p:txBody>
      </p:sp>
      <p:sp>
        <p:nvSpPr>
          <p:cNvPr id="10" name="TextBox 9"/>
          <p:cNvSpPr txBox="1"/>
          <p:nvPr/>
        </p:nvSpPr>
        <p:spPr>
          <a:xfrm>
            <a:off x="1984248" y="4846320"/>
            <a:ext cx="1234440" cy="274320"/>
          </a:xfrm>
          <a:prstGeom prst="rect">
            <a:avLst/>
          </a:prstGeom>
          <a:noFill/>
        </p:spPr>
        <p:txBody>
          <a:bodyPr wrap="square" anchor="t" lIns="0" rIns="0" tIns="0" bIns="0">
            <a:spAutoFit/>
          </a:bodyPr>
          <a:lstStyle/>
          <a:p>
            <a:pPr algn="ctr"/>
            <a:r>
              <a:rPr sz="1100" b="0">
                <a:solidFill>
                  <a:srgbClr val="9A9A9A"/>
                </a:solidFill>
                <a:latin typeface="Montserrat"/>
              </a:rPr>
              <a:t>Samsung Tizen</a:t>
            </a:r>
          </a:p>
        </p:txBody>
      </p:sp>
      <p:sp>
        <p:nvSpPr>
          <p:cNvPr id="11" name="Rectangle 10"/>
          <p:cNvSpPr/>
          <p:nvPr/>
        </p:nvSpPr>
        <p:spPr>
          <a:xfrm>
            <a:off x="3328416" y="2377440"/>
            <a:ext cx="1234440" cy="237744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65576" y="2377440"/>
            <a:ext cx="960120" cy="2377440"/>
          </a:xfrm>
          <a:prstGeom prst="rect">
            <a:avLst/>
          </a:prstGeom>
          <a:noFill/>
        </p:spPr>
        <p:txBody>
          <a:bodyPr wrap="square" anchor="ctr" lIns="0" rIns="0" tIns="0" bIns="0">
            <a:spAutoFit/>
          </a:bodyPr>
          <a:lstStyle/>
          <a:p>
            <a:pPr algn="ctr"/>
            <a:r>
              <a:rPr sz="1000" b="0">
                <a:solidFill>
                  <a:srgbClr val="9A9A9A"/>
                </a:solidFill>
                <a:latin typeface="Montserrat"/>
              </a:rPr>
              <a:t>Roku feed screenshot</a:t>
            </a:r>
          </a:p>
          <a:p>
            <a:pPr algn="ctr"/>
            <a:r>
              <a:rPr sz="1000" b="0">
                <a:solidFill>
                  <a:srgbClr val="9A9A9A"/>
                </a:solidFill>
                <a:latin typeface="Montserrat"/>
              </a:rPr>
              <a:t>assets/02_bench_03_roku.png</a:t>
            </a:r>
          </a:p>
        </p:txBody>
      </p:sp>
      <p:sp>
        <p:nvSpPr>
          <p:cNvPr id="13" name="TextBox 12"/>
          <p:cNvSpPr txBox="1"/>
          <p:nvPr/>
        </p:nvSpPr>
        <p:spPr>
          <a:xfrm>
            <a:off x="3328416" y="4846320"/>
            <a:ext cx="1234440" cy="274320"/>
          </a:xfrm>
          <a:prstGeom prst="rect">
            <a:avLst/>
          </a:prstGeom>
          <a:noFill/>
        </p:spPr>
        <p:txBody>
          <a:bodyPr wrap="square" anchor="t" lIns="0" rIns="0" tIns="0" bIns="0">
            <a:spAutoFit/>
          </a:bodyPr>
          <a:lstStyle/>
          <a:p>
            <a:pPr algn="ctr"/>
            <a:r>
              <a:rPr sz="1100" b="0">
                <a:solidFill>
                  <a:srgbClr val="9A9A9A"/>
                </a:solidFill>
                <a:latin typeface="Montserrat"/>
              </a:rPr>
              <a:t>Roku</a:t>
            </a:r>
          </a:p>
        </p:txBody>
      </p:sp>
      <p:sp>
        <p:nvSpPr>
          <p:cNvPr id="14" name="Rectangle 13"/>
          <p:cNvSpPr/>
          <p:nvPr/>
        </p:nvSpPr>
        <p:spPr>
          <a:xfrm>
            <a:off x="4672584" y="2377440"/>
            <a:ext cx="1234440" cy="237744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9744" y="2377440"/>
            <a:ext cx="960120" cy="2377440"/>
          </a:xfrm>
          <a:prstGeom prst="rect">
            <a:avLst/>
          </a:prstGeom>
          <a:noFill/>
        </p:spPr>
        <p:txBody>
          <a:bodyPr wrap="square" anchor="ctr" lIns="0" rIns="0" tIns="0" bIns="0">
            <a:spAutoFit/>
          </a:bodyPr>
          <a:lstStyle/>
          <a:p>
            <a:pPr algn="ctr"/>
            <a:r>
              <a:rPr sz="1000" b="0">
                <a:solidFill>
                  <a:srgbClr val="9A9A9A"/>
                </a:solidFill>
                <a:latin typeface="Montserrat"/>
              </a:rPr>
              <a:t>Apple TV feed screenshot</a:t>
            </a:r>
          </a:p>
          <a:p>
            <a:pPr algn="ctr"/>
            <a:r>
              <a:rPr sz="1000" b="0">
                <a:solidFill>
                  <a:srgbClr val="9A9A9A"/>
                </a:solidFill>
                <a:latin typeface="Montserrat"/>
              </a:rPr>
              <a:t>assets/02_bench_04_apple.png</a:t>
            </a:r>
          </a:p>
        </p:txBody>
      </p:sp>
      <p:sp>
        <p:nvSpPr>
          <p:cNvPr id="16" name="TextBox 15"/>
          <p:cNvSpPr txBox="1"/>
          <p:nvPr/>
        </p:nvSpPr>
        <p:spPr>
          <a:xfrm>
            <a:off x="4672584" y="4846320"/>
            <a:ext cx="1234440" cy="274320"/>
          </a:xfrm>
          <a:prstGeom prst="rect">
            <a:avLst/>
          </a:prstGeom>
          <a:noFill/>
        </p:spPr>
        <p:txBody>
          <a:bodyPr wrap="square" anchor="t" lIns="0" rIns="0" tIns="0" bIns="0">
            <a:spAutoFit/>
          </a:bodyPr>
          <a:lstStyle/>
          <a:p>
            <a:pPr algn="ctr"/>
            <a:r>
              <a:rPr sz="1100" b="0">
                <a:solidFill>
                  <a:srgbClr val="9A9A9A"/>
                </a:solidFill>
                <a:latin typeface="Montserrat"/>
              </a:rPr>
              <a:t>Apple TV</a:t>
            </a:r>
          </a:p>
        </p:txBody>
      </p:sp>
      <p:sp>
        <p:nvSpPr>
          <p:cNvPr id="17" name="Rectangle 16"/>
          <p:cNvSpPr/>
          <p:nvPr/>
        </p:nvSpPr>
        <p:spPr>
          <a:xfrm>
            <a:off x="6016752" y="2377440"/>
            <a:ext cx="1234440" cy="237744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2377440"/>
            <a:ext cx="960120" cy="2377440"/>
          </a:xfrm>
          <a:prstGeom prst="rect">
            <a:avLst/>
          </a:prstGeom>
          <a:noFill/>
        </p:spPr>
        <p:txBody>
          <a:bodyPr wrap="square" anchor="ctr" lIns="0" rIns="0" tIns="0" bIns="0">
            <a:spAutoFit/>
          </a:bodyPr>
          <a:lstStyle/>
          <a:p>
            <a:pPr algn="ctr"/>
            <a:r>
              <a:rPr sz="1000" b="0">
                <a:solidFill>
                  <a:srgbClr val="9A9A9A"/>
                </a:solidFill>
                <a:latin typeface="Montserrat"/>
              </a:rPr>
              <a:t>Google TV feed screenshot</a:t>
            </a:r>
          </a:p>
          <a:p>
            <a:pPr algn="ctr"/>
            <a:r>
              <a:rPr sz="1000" b="0">
                <a:solidFill>
                  <a:srgbClr val="9A9A9A"/>
                </a:solidFill>
                <a:latin typeface="Montserrat"/>
              </a:rPr>
              <a:t>assets/02_bench_05_googletv.png</a:t>
            </a:r>
          </a:p>
        </p:txBody>
      </p:sp>
      <p:sp>
        <p:nvSpPr>
          <p:cNvPr id="19" name="TextBox 18"/>
          <p:cNvSpPr txBox="1"/>
          <p:nvPr/>
        </p:nvSpPr>
        <p:spPr>
          <a:xfrm>
            <a:off x="6016752" y="4846320"/>
            <a:ext cx="1234440" cy="274320"/>
          </a:xfrm>
          <a:prstGeom prst="rect">
            <a:avLst/>
          </a:prstGeom>
          <a:noFill/>
        </p:spPr>
        <p:txBody>
          <a:bodyPr wrap="square" anchor="t" lIns="0" rIns="0" tIns="0" bIns="0">
            <a:spAutoFit/>
          </a:bodyPr>
          <a:lstStyle/>
          <a:p>
            <a:pPr algn="ctr"/>
            <a:r>
              <a:rPr sz="1100" b="0">
                <a:solidFill>
                  <a:srgbClr val="9A9A9A"/>
                </a:solidFill>
                <a:latin typeface="Montserrat"/>
              </a:rPr>
              <a:t>Google TV</a:t>
            </a:r>
          </a:p>
        </p:txBody>
      </p:sp>
      <p:sp>
        <p:nvSpPr>
          <p:cNvPr id="20" name="Rectangle 19"/>
          <p:cNvSpPr/>
          <p:nvPr/>
        </p:nvSpPr>
        <p:spPr>
          <a:xfrm>
            <a:off x="7360920" y="2377440"/>
            <a:ext cx="1234440" cy="237744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0" y="2377440"/>
            <a:ext cx="960120" cy="2377440"/>
          </a:xfrm>
          <a:prstGeom prst="rect">
            <a:avLst/>
          </a:prstGeom>
          <a:noFill/>
        </p:spPr>
        <p:txBody>
          <a:bodyPr wrap="square" anchor="ctr" lIns="0" rIns="0" tIns="0" bIns="0">
            <a:spAutoFit/>
          </a:bodyPr>
          <a:lstStyle/>
          <a:p>
            <a:pPr algn="ctr"/>
            <a:r>
              <a:rPr sz="1000" b="0">
                <a:solidFill>
                  <a:srgbClr val="9A9A9A"/>
                </a:solidFill>
                <a:latin typeface="Montserrat"/>
              </a:rPr>
              <a:t>Android feed screenshot</a:t>
            </a:r>
          </a:p>
          <a:p>
            <a:pPr algn="ctr"/>
            <a:r>
              <a:rPr sz="1000" b="0">
                <a:solidFill>
                  <a:srgbClr val="9A9A9A"/>
                </a:solidFill>
                <a:latin typeface="Montserrat"/>
              </a:rPr>
              <a:t>assets/02_bench_06_android.png</a:t>
            </a:r>
          </a:p>
        </p:txBody>
      </p:sp>
      <p:sp>
        <p:nvSpPr>
          <p:cNvPr id="22" name="TextBox 21"/>
          <p:cNvSpPr txBox="1"/>
          <p:nvPr/>
        </p:nvSpPr>
        <p:spPr>
          <a:xfrm>
            <a:off x="7360920" y="4846320"/>
            <a:ext cx="1234440" cy="274320"/>
          </a:xfrm>
          <a:prstGeom prst="rect">
            <a:avLst/>
          </a:prstGeom>
          <a:noFill/>
        </p:spPr>
        <p:txBody>
          <a:bodyPr wrap="square" anchor="t" lIns="0" rIns="0" tIns="0" bIns="0">
            <a:spAutoFit/>
          </a:bodyPr>
          <a:lstStyle/>
          <a:p>
            <a:pPr algn="ctr"/>
            <a:r>
              <a:rPr sz="1100" b="0">
                <a:solidFill>
                  <a:srgbClr val="9A9A9A"/>
                </a:solidFill>
                <a:latin typeface="Montserrat"/>
              </a:rPr>
              <a:t>Android</a:t>
            </a:r>
          </a:p>
        </p:txBody>
      </p:sp>
      <p:sp>
        <p:nvSpPr>
          <p:cNvPr id="23" name="Rectangle 22"/>
          <p:cNvSpPr/>
          <p:nvPr/>
        </p:nvSpPr>
        <p:spPr>
          <a:xfrm>
            <a:off x="8705088" y="2377440"/>
            <a:ext cx="1234440" cy="237744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42248" y="2377440"/>
            <a:ext cx="960120" cy="2377440"/>
          </a:xfrm>
          <a:prstGeom prst="rect">
            <a:avLst/>
          </a:prstGeom>
          <a:noFill/>
        </p:spPr>
        <p:txBody>
          <a:bodyPr wrap="square" anchor="ctr" lIns="0" rIns="0" tIns="0" bIns="0">
            <a:spAutoFit/>
          </a:bodyPr>
          <a:lstStyle/>
          <a:p>
            <a:pPr algn="ctr"/>
            <a:r>
              <a:rPr sz="1000" b="0">
                <a:solidFill>
                  <a:srgbClr val="9A9A9A"/>
                </a:solidFill>
                <a:latin typeface="Montserrat"/>
              </a:rPr>
              <a:t>Microsoft feed screenshot</a:t>
            </a:r>
          </a:p>
          <a:p>
            <a:pPr algn="ctr"/>
            <a:r>
              <a:rPr sz="1000" b="0">
                <a:solidFill>
                  <a:srgbClr val="9A9A9A"/>
                </a:solidFill>
                <a:latin typeface="Montserrat"/>
              </a:rPr>
              <a:t>assets/02_bench_07_microsoft.png</a:t>
            </a:r>
          </a:p>
        </p:txBody>
      </p:sp>
      <p:sp>
        <p:nvSpPr>
          <p:cNvPr id="25" name="TextBox 24"/>
          <p:cNvSpPr txBox="1"/>
          <p:nvPr/>
        </p:nvSpPr>
        <p:spPr>
          <a:xfrm>
            <a:off x="8705088" y="4846320"/>
            <a:ext cx="1234440" cy="274320"/>
          </a:xfrm>
          <a:prstGeom prst="rect">
            <a:avLst/>
          </a:prstGeom>
          <a:noFill/>
        </p:spPr>
        <p:txBody>
          <a:bodyPr wrap="square" anchor="t" lIns="0" rIns="0" tIns="0" bIns="0">
            <a:spAutoFit/>
          </a:bodyPr>
          <a:lstStyle/>
          <a:p>
            <a:pPr algn="ctr"/>
            <a:r>
              <a:rPr sz="1100" b="0">
                <a:solidFill>
                  <a:srgbClr val="9A9A9A"/>
                </a:solidFill>
                <a:latin typeface="Montserrat"/>
              </a:rPr>
              <a:t>Microsoft</a:t>
            </a:r>
          </a:p>
        </p:txBody>
      </p:sp>
      <p:sp>
        <p:nvSpPr>
          <p:cNvPr id="26" name="Rectangle 25"/>
          <p:cNvSpPr/>
          <p:nvPr/>
        </p:nvSpPr>
        <p:spPr>
          <a:xfrm>
            <a:off x="10140696" y="2377440"/>
            <a:ext cx="1463040" cy="2377440"/>
          </a:xfrm>
          <a:prstGeom prst="rect">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40696" y="2377440"/>
            <a:ext cx="1463040" cy="2377440"/>
          </a:xfrm>
          <a:prstGeom prst="rect">
            <a:avLst/>
          </a:prstGeom>
          <a:noFill/>
        </p:spPr>
        <p:txBody>
          <a:bodyPr wrap="square" anchor="ctr" lIns="0" rIns="0" tIns="0" bIns="0">
            <a:spAutoFit/>
          </a:bodyPr>
          <a:lstStyle/>
          <a:p>
            <a:pPr algn="ctr"/>
            <a:r>
              <a:rPr sz="1600" b="1">
                <a:solidFill>
                  <a:srgbClr val="F5C518"/>
                </a:solidFill>
                <a:latin typeface="Montserrat"/>
              </a:rPr>
              <a:t>V</a:t>
            </a:r>
          </a:p>
          <a:p>
            <a:pPr algn="ctr"/>
            <a:r>
              <a:rPr sz="1600" b="1">
                <a:solidFill>
                  <a:srgbClr val="F5C518"/>
                </a:solidFill>
                <a:latin typeface="Montserrat"/>
              </a:rPr>
              <a:t/>
            </a:r>
          </a:p>
          <a:p>
            <a:pPr algn="ctr"/>
            <a:r>
              <a:rPr sz="1600" b="1">
                <a:solidFill>
                  <a:srgbClr val="F5C518"/>
                </a:solidFill>
                <a:latin typeface="Montserrat"/>
              </a:rPr>
              <a:t>THE</a:t>
            </a:r>
          </a:p>
          <a:p>
            <a:pPr algn="ctr"/>
            <a:r>
              <a:rPr sz="1600" b="1">
                <a:solidFill>
                  <a:srgbClr val="F5C518"/>
                </a:solidFill>
                <a:latin typeface="Montserrat"/>
              </a:rPr>
              <a:t>OPEN</a:t>
            </a:r>
          </a:p>
          <a:p>
            <a:pPr algn="ctr"/>
            <a:r>
              <a:rPr sz="1600" b="1">
                <a:solidFill>
                  <a:srgbClr val="F5C518"/>
                </a:solidFill>
                <a:latin typeface="Montserrat"/>
              </a:rPr>
              <a:t>SPACE</a:t>
            </a:r>
          </a:p>
        </p:txBody>
      </p:sp>
      <p:sp>
        <p:nvSpPr>
          <p:cNvPr id="28" name="Rounded Rectangle 27"/>
          <p:cNvSpPr/>
          <p:nvPr/>
        </p:nvSpPr>
        <p:spPr>
          <a:xfrm>
            <a:off x="640080" y="5989320"/>
            <a:ext cx="2377440"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989320"/>
            <a:ext cx="2377440" cy="411480"/>
          </a:xfrm>
          <a:prstGeom prst="rect">
            <a:avLst/>
          </a:prstGeom>
          <a:noFill/>
        </p:spPr>
        <p:txBody>
          <a:bodyPr wrap="square" anchor="ctr" lIns="0" rIns="0" tIns="0" bIns="0">
            <a:spAutoFit/>
          </a:bodyPr>
          <a:lstStyle/>
          <a:p>
            <a:pPr algn="ctr"/>
            <a:r>
              <a:rPr sz="1200" b="1">
                <a:solidFill>
                  <a:srgbClr val="F5C518"/>
                </a:solidFill>
                <a:latin typeface="Montserrat"/>
              </a:rPr>
              <a:t>7 brands benchmarked</a:t>
            </a:r>
          </a:p>
        </p:txBody>
      </p:sp>
      <p:sp>
        <p:nvSpPr>
          <p:cNvPr id="30" name="Rounded Rectangle 29"/>
          <p:cNvSpPr/>
          <p:nvPr/>
        </p:nvSpPr>
        <p:spPr>
          <a:xfrm>
            <a:off x="3200400" y="5989320"/>
            <a:ext cx="2482596"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0" y="5989320"/>
            <a:ext cx="2482596" cy="411480"/>
          </a:xfrm>
          <a:prstGeom prst="rect">
            <a:avLst/>
          </a:prstGeom>
          <a:noFill/>
        </p:spPr>
        <p:txBody>
          <a:bodyPr wrap="square" anchor="ctr" lIns="0" rIns="0" tIns="0" bIns="0">
            <a:spAutoFit/>
          </a:bodyPr>
          <a:lstStyle/>
          <a:p>
            <a:pPr algn="ctr"/>
            <a:r>
              <a:rPr sz="1200" b="1">
                <a:solidFill>
                  <a:srgbClr val="F5C518"/>
                </a:solidFill>
                <a:latin typeface="Montserrat"/>
              </a:rPr>
              <a:t>Feature-led: the norm</a:t>
            </a:r>
          </a:p>
        </p:txBody>
      </p:sp>
      <p:sp>
        <p:nvSpPr>
          <p:cNvPr id="32" name="Rounded Rectangle 31"/>
          <p:cNvSpPr/>
          <p:nvPr/>
        </p:nvSpPr>
        <p:spPr>
          <a:xfrm>
            <a:off x="5865876" y="5989320"/>
            <a:ext cx="3429000"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65876" y="5989320"/>
            <a:ext cx="3429000" cy="411480"/>
          </a:xfrm>
          <a:prstGeom prst="rect">
            <a:avLst/>
          </a:prstGeom>
          <a:noFill/>
        </p:spPr>
        <p:txBody>
          <a:bodyPr wrap="square" anchor="ctr" lIns="0" rIns="0" tIns="0" bIns="0">
            <a:spAutoFit/>
          </a:bodyPr>
          <a:lstStyle/>
          <a:p>
            <a:pPr algn="ctr"/>
            <a:r>
              <a:rPr sz="1200" b="1">
                <a:solidFill>
                  <a:srgbClr val="F5C518"/>
                </a:solidFill>
                <a:latin typeface="Montserrat"/>
              </a:rPr>
              <a:t>Lifestyle + authority: unowned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anchor="t" lIns="0" rIns="0" tIns="0" bIns="0">
            <a:spAutoFit/>
          </a:bodyPr>
          <a:lstStyle/>
          <a:p>
            <a:pPr algn="l"/>
            <a:r>
              <a:rPr sz="1100" b="1" spc="300">
                <a:solidFill>
                  <a:srgbClr val="F5C518"/>
                </a:solidFill>
                <a:latin typeface="Montserrat"/>
              </a:rPr>
              <a:t>03  /  THE STRATEGY</a:t>
            </a:r>
          </a:p>
        </p:txBody>
      </p:sp>
      <p:sp>
        <p:nvSpPr>
          <p:cNvPr id="3" name="TextBox 2"/>
          <p:cNvSpPr txBox="1"/>
          <p:nvPr/>
        </p:nvSpPr>
        <p:spPr>
          <a:xfrm>
            <a:off x="640080" y="777240"/>
            <a:ext cx="10972800" cy="822960"/>
          </a:xfrm>
          <a:prstGeom prst="rect">
            <a:avLst/>
          </a:prstGeom>
          <a:noFill/>
        </p:spPr>
        <p:txBody>
          <a:bodyPr wrap="square" anchor="t" lIns="0" rIns="0" tIns="0" bIns="0">
            <a:spAutoFit/>
          </a:bodyPr>
          <a:lstStyle/>
          <a:p>
            <a:pPr algn="l"/>
            <a:r>
              <a:rPr sz="3000" b="1">
                <a:solidFill>
                  <a:srgbClr val="FFFFFF"/>
                </a:solidFill>
                <a:latin typeface="Montserrat"/>
              </a:rPr>
              <a:t>Two Channels. Two Jobs. One Brand.</a:t>
            </a:r>
          </a:p>
        </p:txBody>
      </p:sp>
      <p:sp>
        <p:nvSpPr>
          <p:cNvPr id="4" name="TextBox 3"/>
          <p:cNvSpPr txBox="1"/>
          <p:nvPr/>
        </p:nvSpPr>
        <p:spPr>
          <a:xfrm>
            <a:off x="640080" y="1554480"/>
            <a:ext cx="10515600" cy="457200"/>
          </a:xfrm>
          <a:prstGeom prst="rect">
            <a:avLst/>
          </a:prstGeom>
          <a:noFill/>
        </p:spPr>
        <p:txBody>
          <a:bodyPr wrap="square" anchor="t" lIns="0" rIns="0" tIns="0" bIns="0">
            <a:spAutoFit/>
          </a:bodyPr>
          <a:lstStyle/>
          <a:p>
            <a:pPr algn="l"/>
            <a:r>
              <a:rPr sz="1600" b="0">
                <a:solidFill>
                  <a:srgbClr val="9A9A9A"/>
                </a:solidFill>
                <a:latin typeface="Montserrat"/>
              </a:rPr>
              <a:t>LinkedIn wins the deal. Instagram wins the living room.</a:t>
            </a:r>
          </a:p>
        </p:txBody>
      </p:sp>
      <p:sp>
        <p:nvSpPr>
          <p:cNvPr id="5" name="Rectangle 4"/>
          <p:cNvSpPr/>
          <p:nvPr/>
        </p:nvSpPr>
        <p:spPr>
          <a:xfrm>
            <a:off x="640080" y="2286000"/>
            <a:ext cx="5318607" cy="3520440"/>
          </a:xfrm>
          <a:prstGeom prst="rect">
            <a:avLst/>
          </a:prstGeom>
          <a:solidFill>
            <a:srgbClr val="171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514600"/>
            <a:ext cx="5318607" cy="274320"/>
          </a:xfrm>
          <a:prstGeom prst="rect">
            <a:avLst/>
          </a:prstGeom>
          <a:noFill/>
        </p:spPr>
        <p:txBody>
          <a:bodyPr wrap="square" anchor="t" lIns="0" rIns="0" tIns="0" bIns="0">
            <a:spAutoFit/>
          </a:bodyPr>
          <a:lstStyle/>
          <a:p>
            <a:pPr algn="l"/>
            <a:r>
              <a:rPr sz="1100" b="1" spc="300">
                <a:solidFill>
                  <a:srgbClr val="F5C518"/>
                </a:solidFill>
                <a:latin typeface="Montserrat"/>
              </a:rPr>
              <a:t>B2B  /  LINKEDIN</a:t>
            </a:r>
          </a:p>
        </p:txBody>
      </p:sp>
      <p:sp>
        <p:nvSpPr>
          <p:cNvPr id="7" name="TextBox 6"/>
          <p:cNvSpPr txBox="1"/>
          <p:nvPr/>
        </p:nvSpPr>
        <p:spPr>
          <a:xfrm>
            <a:off x="960120" y="2834640"/>
            <a:ext cx="2926080" cy="1097280"/>
          </a:xfrm>
          <a:prstGeom prst="rect">
            <a:avLst/>
          </a:prstGeom>
          <a:noFill/>
        </p:spPr>
        <p:txBody>
          <a:bodyPr wrap="square" anchor="t" lIns="0" rIns="0" tIns="0" bIns="0">
            <a:spAutoFit/>
          </a:bodyPr>
          <a:lstStyle/>
          <a:p>
            <a:pPr algn="l"/>
            <a:r>
              <a:rPr sz="2800" b="1">
                <a:solidFill>
                  <a:srgbClr val="FFFFFF"/>
                </a:solidFill>
                <a:latin typeface="Montserrat"/>
              </a:rPr>
              <a:t>Win OEMs &amp; Advertisers</a:t>
            </a:r>
          </a:p>
        </p:txBody>
      </p:sp>
      <p:sp>
        <p:nvSpPr>
          <p:cNvPr id="8" name="TextBox 7"/>
          <p:cNvSpPr txBox="1"/>
          <p:nvPr/>
        </p:nvSpPr>
        <p:spPr>
          <a:xfrm>
            <a:off x="960120" y="4023360"/>
            <a:ext cx="2743200" cy="548640"/>
          </a:xfrm>
          <a:prstGeom prst="rect">
            <a:avLst/>
          </a:prstGeom>
          <a:noFill/>
        </p:spPr>
        <p:txBody>
          <a:bodyPr wrap="square" anchor="t" lIns="0" rIns="0" tIns="0" bIns="0">
            <a:spAutoFit/>
          </a:bodyPr>
          <a:lstStyle/>
          <a:p>
            <a:pPr algn="l"/>
            <a:r>
              <a:rPr sz="1400" b="0">
                <a:solidFill>
                  <a:srgbClr val="9A9A9A"/>
                </a:solidFill>
                <a:latin typeface="Montserrat"/>
              </a:rPr>
              <a:t>Industry authority</a:t>
            </a:r>
          </a:p>
        </p:txBody>
      </p:sp>
      <p:sp>
        <p:nvSpPr>
          <p:cNvPr id="9" name="Rectangle 8"/>
          <p:cNvSpPr/>
          <p:nvPr/>
        </p:nvSpPr>
        <p:spPr>
          <a:xfrm>
            <a:off x="3718407" y="2514600"/>
            <a:ext cx="1920240" cy="306324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55567" y="2514600"/>
            <a:ext cx="1645920" cy="3063240"/>
          </a:xfrm>
          <a:prstGeom prst="rect">
            <a:avLst/>
          </a:prstGeom>
          <a:noFill/>
        </p:spPr>
        <p:txBody>
          <a:bodyPr wrap="square" anchor="ctr" lIns="0" rIns="0" tIns="0" bIns="0">
            <a:spAutoFit/>
          </a:bodyPr>
          <a:lstStyle/>
          <a:p>
            <a:pPr algn="ctr"/>
            <a:r>
              <a:rPr sz="1000" b="0">
                <a:solidFill>
                  <a:srgbClr val="9A9A9A"/>
                </a:solidFill>
                <a:latin typeface="Montserrat"/>
              </a:rPr>
              <a:t>LinkedIn feed mockup: exec post + data card</a:t>
            </a:r>
          </a:p>
          <a:p>
            <a:pPr algn="ctr"/>
            <a:r>
              <a:rPr sz="1000" b="0">
                <a:solidFill>
                  <a:srgbClr val="9A9A9A"/>
                </a:solidFill>
                <a:latin typeface="Montserrat"/>
              </a:rPr>
              <a:t>assets/03_linkedin_preview.png</a:t>
            </a:r>
          </a:p>
        </p:txBody>
      </p:sp>
      <p:sp>
        <p:nvSpPr>
          <p:cNvPr id="11" name="Rectangle 10"/>
          <p:cNvSpPr/>
          <p:nvPr/>
        </p:nvSpPr>
        <p:spPr>
          <a:xfrm>
            <a:off x="6233007" y="2286000"/>
            <a:ext cx="5318607" cy="3520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3047" y="2514600"/>
            <a:ext cx="5318607" cy="274320"/>
          </a:xfrm>
          <a:prstGeom prst="rect">
            <a:avLst/>
          </a:prstGeom>
          <a:noFill/>
        </p:spPr>
        <p:txBody>
          <a:bodyPr wrap="square" anchor="t" lIns="0" rIns="0" tIns="0" bIns="0">
            <a:spAutoFit/>
          </a:bodyPr>
          <a:lstStyle/>
          <a:p>
            <a:pPr algn="l"/>
            <a:r>
              <a:rPr sz="1100" b="1" spc="300">
                <a:solidFill>
                  <a:srgbClr val="F5C518"/>
                </a:solidFill>
                <a:latin typeface="Montserrat"/>
              </a:rPr>
              <a:t>B2C  /  INSTAGRAM</a:t>
            </a:r>
          </a:p>
        </p:txBody>
      </p:sp>
      <p:sp>
        <p:nvSpPr>
          <p:cNvPr id="13" name="TextBox 12"/>
          <p:cNvSpPr txBox="1"/>
          <p:nvPr/>
        </p:nvSpPr>
        <p:spPr>
          <a:xfrm>
            <a:off x="6553047" y="2834640"/>
            <a:ext cx="2926080" cy="1097280"/>
          </a:xfrm>
          <a:prstGeom prst="rect">
            <a:avLst/>
          </a:prstGeom>
          <a:noFill/>
        </p:spPr>
        <p:txBody>
          <a:bodyPr wrap="square" anchor="t" lIns="0" rIns="0" tIns="0" bIns="0">
            <a:spAutoFit/>
          </a:bodyPr>
          <a:lstStyle/>
          <a:p>
            <a:pPr algn="l"/>
            <a:r>
              <a:rPr sz="2800" b="1">
                <a:solidFill>
                  <a:srgbClr val="0A0A0A"/>
                </a:solidFill>
                <a:latin typeface="Montserrat"/>
              </a:rPr>
              <a:t>Win the Living Room</a:t>
            </a:r>
          </a:p>
        </p:txBody>
      </p:sp>
      <p:sp>
        <p:nvSpPr>
          <p:cNvPr id="14" name="TextBox 13"/>
          <p:cNvSpPr txBox="1"/>
          <p:nvPr/>
        </p:nvSpPr>
        <p:spPr>
          <a:xfrm>
            <a:off x="6553047" y="4023360"/>
            <a:ext cx="2743200" cy="548640"/>
          </a:xfrm>
          <a:prstGeom prst="rect">
            <a:avLst/>
          </a:prstGeom>
          <a:noFill/>
        </p:spPr>
        <p:txBody>
          <a:bodyPr wrap="square" anchor="t" lIns="0" rIns="0" tIns="0" bIns="0">
            <a:spAutoFit/>
          </a:bodyPr>
          <a:lstStyle/>
          <a:p>
            <a:pPr algn="l"/>
            <a:r>
              <a:rPr sz="1400" b="0">
                <a:solidFill>
                  <a:srgbClr val="9A9A9A"/>
                </a:solidFill>
                <a:latin typeface="Montserrat"/>
              </a:rPr>
              <a:t>Smart-home lifestyle &amp; community</a:t>
            </a:r>
          </a:p>
        </p:txBody>
      </p:sp>
      <p:sp>
        <p:nvSpPr>
          <p:cNvPr id="15" name="Rectangle 14"/>
          <p:cNvSpPr/>
          <p:nvPr/>
        </p:nvSpPr>
        <p:spPr>
          <a:xfrm>
            <a:off x="9311335" y="2514600"/>
            <a:ext cx="1920240" cy="306324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48495" y="2514600"/>
            <a:ext cx="1645920" cy="3063240"/>
          </a:xfrm>
          <a:prstGeom prst="rect">
            <a:avLst/>
          </a:prstGeom>
          <a:noFill/>
        </p:spPr>
        <p:txBody>
          <a:bodyPr wrap="square" anchor="ctr" lIns="0" rIns="0" tIns="0" bIns="0">
            <a:spAutoFit/>
          </a:bodyPr>
          <a:lstStyle/>
          <a:p>
            <a:pPr algn="ctr"/>
            <a:r>
              <a:rPr sz="1000" b="0">
                <a:solidFill>
                  <a:srgbClr val="9A9A9A"/>
                </a:solidFill>
                <a:latin typeface="Montserrat"/>
              </a:rPr>
              <a:t>Instagram 9-grid preview</a:t>
            </a:r>
          </a:p>
          <a:p>
            <a:pPr algn="ctr"/>
            <a:r>
              <a:rPr sz="1000" b="0">
                <a:solidFill>
                  <a:srgbClr val="9A9A9A"/>
                </a:solidFill>
                <a:latin typeface="Montserrat"/>
              </a:rPr>
              <a:t>assets/03_instagram_preview.png</a:t>
            </a:r>
          </a:p>
        </p:txBody>
      </p:sp>
      <p:sp>
        <p:nvSpPr>
          <p:cNvPr id="17" name="Rounded Rectangle 16"/>
          <p:cNvSpPr/>
          <p:nvPr/>
        </p:nvSpPr>
        <p:spPr>
          <a:xfrm>
            <a:off x="640080" y="5989320"/>
            <a:ext cx="1641348"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989320"/>
            <a:ext cx="1641348" cy="411480"/>
          </a:xfrm>
          <a:prstGeom prst="rect">
            <a:avLst/>
          </a:prstGeom>
          <a:noFill/>
        </p:spPr>
        <p:txBody>
          <a:bodyPr wrap="square" anchor="ctr" lIns="0" rIns="0" tIns="0" bIns="0">
            <a:spAutoFit/>
          </a:bodyPr>
          <a:lstStyle/>
          <a:p>
            <a:pPr algn="ctr"/>
            <a:r>
              <a:rPr sz="1200" b="1">
                <a:solidFill>
                  <a:srgbClr val="F5C518"/>
                </a:solidFill>
                <a:latin typeface="Montserrat"/>
              </a:rPr>
              <a:t>B2B: pipeline</a:t>
            </a:r>
          </a:p>
        </p:txBody>
      </p:sp>
      <p:sp>
        <p:nvSpPr>
          <p:cNvPr id="19" name="Rounded Rectangle 18"/>
          <p:cNvSpPr/>
          <p:nvPr/>
        </p:nvSpPr>
        <p:spPr>
          <a:xfrm>
            <a:off x="2464308" y="5989320"/>
            <a:ext cx="1851660"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64308" y="5989320"/>
            <a:ext cx="1851660" cy="411480"/>
          </a:xfrm>
          <a:prstGeom prst="rect">
            <a:avLst/>
          </a:prstGeom>
          <a:noFill/>
        </p:spPr>
        <p:txBody>
          <a:bodyPr wrap="square" anchor="ctr" lIns="0" rIns="0" tIns="0" bIns="0">
            <a:spAutoFit/>
          </a:bodyPr>
          <a:lstStyle/>
          <a:p>
            <a:pPr algn="ctr"/>
            <a:r>
              <a:rPr sz="1200" b="1">
                <a:solidFill>
                  <a:srgbClr val="F5C518"/>
                </a:solidFill>
                <a:latin typeface="Montserrat"/>
              </a:rPr>
              <a:t>B2C: preference</a:t>
            </a:r>
          </a:p>
        </p:txBody>
      </p:sp>
      <p:sp>
        <p:nvSpPr>
          <p:cNvPr id="21" name="Rounded Rectangle 20"/>
          <p:cNvSpPr/>
          <p:nvPr/>
        </p:nvSpPr>
        <p:spPr>
          <a:xfrm>
            <a:off x="4498848" y="5989320"/>
            <a:ext cx="2272284"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98848" y="5989320"/>
            <a:ext cx="2272284" cy="411480"/>
          </a:xfrm>
          <a:prstGeom prst="rect">
            <a:avLst/>
          </a:prstGeom>
          <a:noFill/>
        </p:spPr>
        <p:txBody>
          <a:bodyPr wrap="square" anchor="ctr" lIns="0" rIns="0" tIns="0" bIns="0">
            <a:spAutoFit/>
          </a:bodyPr>
          <a:lstStyle/>
          <a:p>
            <a:pPr algn="ctr"/>
            <a:r>
              <a:rPr sz="1200" b="1">
                <a:solidFill>
                  <a:srgbClr val="F5C518"/>
                </a:solidFill>
                <a:latin typeface="Montserrat"/>
              </a:rPr>
              <a:t>One visual language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anchor="t" lIns="0" rIns="0" tIns="0" bIns="0">
            <a:spAutoFit/>
          </a:bodyPr>
          <a:lstStyle/>
          <a:p>
            <a:pPr algn="l"/>
            <a:r>
              <a:rPr sz="1100" b="1" spc="300">
                <a:solidFill>
                  <a:srgbClr val="F5C518"/>
                </a:solidFill>
                <a:latin typeface="Montserrat"/>
              </a:rPr>
              <a:t>04  /  LINKEDIN  |  B2B</a:t>
            </a:r>
          </a:p>
        </p:txBody>
      </p:sp>
      <p:sp>
        <p:nvSpPr>
          <p:cNvPr id="3" name="TextBox 2"/>
          <p:cNvSpPr txBox="1"/>
          <p:nvPr/>
        </p:nvSpPr>
        <p:spPr>
          <a:xfrm>
            <a:off x="640080" y="777240"/>
            <a:ext cx="10972800" cy="822960"/>
          </a:xfrm>
          <a:prstGeom prst="rect">
            <a:avLst/>
          </a:prstGeom>
          <a:noFill/>
        </p:spPr>
        <p:txBody>
          <a:bodyPr wrap="square" anchor="t" lIns="0" rIns="0" tIns="0" bIns="0">
            <a:spAutoFit/>
          </a:bodyPr>
          <a:lstStyle/>
          <a:p>
            <a:pPr algn="l"/>
            <a:r>
              <a:rPr sz="3000" b="1">
                <a:solidFill>
                  <a:srgbClr val="FFFFFF"/>
                </a:solidFill>
                <a:latin typeface="Montserrat"/>
              </a:rPr>
              <a:t>V Becomes the Industry's Point of View.</a:t>
            </a:r>
          </a:p>
        </p:txBody>
      </p:sp>
      <p:sp>
        <p:nvSpPr>
          <p:cNvPr id="4" name="TextBox 3"/>
          <p:cNvSpPr txBox="1"/>
          <p:nvPr/>
        </p:nvSpPr>
        <p:spPr>
          <a:xfrm>
            <a:off x="640080" y="1554480"/>
            <a:ext cx="10515600" cy="457200"/>
          </a:xfrm>
          <a:prstGeom prst="rect">
            <a:avLst/>
          </a:prstGeom>
          <a:noFill/>
        </p:spPr>
        <p:txBody>
          <a:bodyPr wrap="square" anchor="t" lIns="0" rIns="0" tIns="0" bIns="0">
            <a:spAutoFit/>
          </a:bodyPr>
          <a:lstStyle/>
          <a:p>
            <a:pPr algn="l"/>
            <a:r>
              <a:rPr sz="1600" b="0">
                <a:solidFill>
                  <a:srgbClr val="9A9A9A"/>
                </a:solidFill>
                <a:latin typeface="Montserrat"/>
              </a:rPr>
              <a:t>Data and leadership voices that make OEMs and advertisers call us first.</a:t>
            </a:r>
          </a:p>
        </p:txBody>
      </p:sp>
      <p:sp>
        <p:nvSpPr>
          <p:cNvPr id="5" name="Rectangle 4"/>
          <p:cNvSpPr/>
          <p:nvPr/>
        </p:nvSpPr>
        <p:spPr>
          <a:xfrm>
            <a:off x="640080" y="2286000"/>
            <a:ext cx="5120640" cy="347472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286000"/>
            <a:ext cx="4846320" cy="3474720"/>
          </a:xfrm>
          <a:prstGeom prst="rect">
            <a:avLst/>
          </a:prstGeom>
          <a:noFill/>
        </p:spPr>
        <p:txBody>
          <a:bodyPr wrap="square" anchor="ctr" lIns="0" rIns="0" tIns="0" bIns="0">
            <a:spAutoFit/>
          </a:bodyPr>
          <a:lstStyle/>
          <a:p>
            <a:pPr algn="ctr"/>
            <a:r>
              <a:rPr sz="1000" b="0">
                <a:solidFill>
                  <a:srgbClr val="9A9A9A"/>
                </a:solidFill>
                <a:latin typeface="Montserrat"/>
              </a:rPr>
              <a:t>McKinsey viewing-data graph as a branded LinkedIn data post (Plan PDF)</a:t>
            </a:r>
          </a:p>
          <a:p>
            <a:pPr algn="ctr"/>
            <a:r>
              <a:rPr sz="1000" b="0">
                <a:solidFill>
                  <a:srgbClr val="9A9A9A"/>
                </a:solidFill>
                <a:latin typeface="Montserrat"/>
              </a:rPr>
              <a:t>assets/04_mckinsey_viewing_graph.png</a:t>
            </a:r>
          </a:p>
        </p:txBody>
      </p:sp>
      <p:sp>
        <p:nvSpPr>
          <p:cNvPr id="7" name="Rectangle 6"/>
          <p:cNvSpPr/>
          <p:nvPr/>
        </p:nvSpPr>
        <p:spPr>
          <a:xfrm>
            <a:off x="5989320" y="2286000"/>
            <a:ext cx="2743200" cy="347472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0" y="2286000"/>
            <a:ext cx="2468880" cy="3474720"/>
          </a:xfrm>
          <a:prstGeom prst="rect">
            <a:avLst/>
          </a:prstGeom>
          <a:noFill/>
        </p:spPr>
        <p:txBody>
          <a:bodyPr wrap="square" anchor="ctr" lIns="0" rIns="0" tIns="0" bIns="0">
            <a:spAutoFit/>
          </a:bodyPr>
          <a:lstStyle/>
          <a:p>
            <a:pPr algn="ctr"/>
            <a:r>
              <a:rPr sz="1000" b="0">
                <a:solidFill>
                  <a:srgbClr val="9A9A9A"/>
                </a:solidFill>
                <a:latin typeface="Montserrat"/>
              </a:rPr>
              <a:t>Executive thought-leadership post mockup #1</a:t>
            </a:r>
          </a:p>
          <a:p>
            <a:pPr algn="ctr"/>
            <a:r>
              <a:rPr sz="1000" b="0">
                <a:solidFill>
                  <a:srgbClr val="9A9A9A"/>
                </a:solidFill>
                <a:latin typeface="Montserrat"/>
              </a:rPr>
              <a:t>assets/04_exec_post_1.png</a:t>
            </a:r>
          </a:p>
        </p:txBody>
      </p:sp>
      <p:sp>
        <p:nvSpPr>
          <p:cNvPr id="9" name="Rectangle 8"/>
          <p:cNvSpPr/>
          <p:nvPr/>
        </p:nvSpPr>
        <p:spPr>
          <a:xfrm>
            <a:off x="8961120" y="2286000"/>
            <a:ext cx="2606040" cy="347472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280" y="2286000"/>
            <a:ext cx="2331720" cy="3474720"/>
          </a:xfrm>
          <a:prstGeom prst="rect">
            <a:avLst/>
          </a:prstGeom>
          <a:noFill/>
        </p:spPr>
        <p:txBody>
          <a:bodyPr wrap="square" anchor="ctr" lIns="0" rIns="0" tIns="0" bIns="0">
            <a:spAutoFit/>
          </a:bodyPr>
          <a:lstStyle/>
          <a:p>
            <a:pPr algn="ctr"/>
            <a:r>
              <a:rPr sz="1000" b="0">
                <a:solidFill>
                  <a:srgbClr val="9A9A9A"/>
                </a:solidFill>
                <a:latin typeface="Montserrat"/>
              </a:rPr>
              <a:t>Executive post #2 / OEM partnership announcement card</a:t>
            </a:r>
          </a:p>
          <a:p>
            <a:pPr algn="ctr"/>
            <a:r>
              <a:rPr sz="1000" b="0">
                <a:solidFill>
                  <a:srgbClr val="9A9A9A"/>
                </a:solidFill>
                <a:latin typeface="Montserrat"/>
              </a:rPr>
              <a:t>assets/04_exec_post_2.png</a:t>
            </a:r>
          </a:p>
        </p:txBody>
      </p:sp>
      <p:sp>
        <p:nvSpPr>
          <p:cNvPr id="11" name="Rounded Rectangle 10"/>
          <p:cNvSpPr/>
          <p:nvPr/>
        </p:nvSpPr>
        <p:spPr>
          <a:xfrm>
            <a:off x="640080" y="5989320"/>
            <a:ext cx="1431036"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989320"/>
            <a:ext cx="1431036" cy="411480"/>
          </a:xfrm>
          <a:prstGeom prst="rect">
            <a:avLst/>
          </a:prstGeom>
          <a:noFill/>
        </p:spPr>
        <p:txBody>
          <a:bodyPr wrap="square" anchor="ctr" lIns="0" rIns="0" tIns="0" bIns="0">
            <a:spAutoFit/>
          </a:bodyPr>
          <a:lstStyle/>
          <a:p>
            <a:pPr algn="ctr"/>
            <a:r>
              <a:rPr sz="1200" b="1">
                <a:solidFill>
                  <a:srgbClr val="F5C518"/>
                </a:solidFill>
                <a:latin typeface="Montserrat"/>
              </a:rPr>
              <a:t>OEM inbound</a:t>
            </a:r>
          </a:p>
        </p:txBody>
      </p:sp>
      <p:sp>
        <p:nvSpPr>
          <p:cNvPr id="13" name="Rounded Rectangle 12"/>
          <p:cNvSpPr/>
          <p:nvPr/>
        </p:nvSpPr>
        <p:spPr>
          <a:xfrm>
            <a:off x="2253996" y="5989320"/>
            <a:ext cx="2061972"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53996" y="5989320"/>
            <a:ext cx="2061972" cy="411480"/>
          </a:xfrm>
          <a:prstGeom prst="rect">
            <a:avLst/>
          </a:prstGeom>
          <a:noFill/>
        </p:spPr>
        <p:txBody>
          <a:bodyPr wrap="square" anchor="ctr" lIns="0" rIns="0" tIns="0" bIns="0">
            <a:spAutoFit/>
          </a:bodyPr>
          <a:lstStyle/>
          <a:p>
            <a:pPr algn="ctr"/>
            <a:r>
              <a:rPr sz="1200" b="1">
                <a:solidFill>
                  <a:srgbClr val="F5C518"/>
                </a:solidFill>
                <a:latin typeface="Montserrat"/>
              </a:rPr>
              <a:t>Advertiser demand</a:t>
            </a:r>
          </a:p>
        </p:txBody>
      </p:sp>
      <p:sp>
        <p:nvSpPr>
          <p:cNvPr id="15" name="Rounded Rectangle 14"/>
          <p:cNvSpPr/>
          <p:nvPr/>
        </p:nvSpPr>
        <p:spPr>
          <a:xfrm>
            <a:off x="4498848" y="5989320"/>
            <a:ext cx="1746504"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98848" y="5989320"/>
            <a:ext cx="1746504" cy="411480"/>
          </a:xfrm>
          <a:prstGeom prst="rect">
            <a:avLst/>
          </a:prstGeom>
          <a:noFill/>
        </p:spPr>
        <p:txBody>
          <a:bodyPr wrap="square" anchor="ctr" lIns="0" rIns="0" tIns="0" bIns="0">
            <a:spAutoFit/>
          </a:bodyPr>
          <a:lstStyle/>
          <a:p>
            <a:pPr algn="ctr"/>
            <a:r>
              <a:rPr sz="1200" b="1">
                <a:solidFill>
                  <a:srgbClr val="F5C518"/>
                </a:solidFill>
                <a:latin typeface="Montserrat"/>
              </a:rPr>
              <a:t>Exec-led voice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anchor="t" lIns="0" rIns="0" tIns="0" bIns="0">
            <a:spAutoFit/>
          </a:bodyPr>
          <a:lstStyle/>
          <a:p>
            <a:pPr algn="l"/>
            <a:r>
              <a:rPr sz="1100" b="1" spc="300">
                <a:solidFill>
                  <a:srgbClr val="F5C518"/>
                </a:solidFill>
                <a:latin typeface="Montserrat"/>
              </a:rPr>
              <a:t>05  /  INSTAGRAM  |  B2C</a:t>
            </a:r>
          </a:p>
        </p:txBody>
      </p:sp>
      <p:sp>
        <p:nvSpPr>
          <p:cNvPr id="3" name="TextBox 2"/>
          <p:cNvSpPr txBox="1"/>
          <p:nvPr/>
        </p:nvSpPr>
        <p:spPr>
          <a:xfrm>
            <a:off x="640080" y="777240"/>
            <a:ext cx="10972800" cy="822960"/>
          </a:xfrm>
          <a:prstGeom prst="rect">
            <a:avLst/>
          </a:prstGeom>
          <a:noFill/>
        </p:spPr>
        <p:txBody>
          <a:bodyPr wrap="square" anchor="t" lIns="0" rIns="0" tIns="0" bIns="0">
            <a:spAutoFit/>
          </a:bodyPr>
          <a:lstStyle/>
          <a:p>
            <a:pPr algn="l"/>
            <a:r>
              <a:rPr sz="3000" b="1">
                <a:solidFill>
                  <a:srgbClr val="FFFFFF"/>
                </a:solidFill>
                <a:latin typeface="Montserrat"/>
              </a:rPr>
              <a:t>V Lives on the Sofa, Not the Spec Sheet.</a:t>
            </a:r>
          </a:p>
        </p:txBody>
      </p:sp>
      <p:sp>
        <p:nvSpPr>
          <p:cNvPr id="4" name="TextBox 3"/>
          <p:cNvSpPr txBox="1"/>
          <p:nvPr/>
        </p:nvSpPr>
        <p:spPr>
          <a:xfrm>
            <a:off x="640080" y="1554480"/>
            <a:ext cx="10515600" cy="457200"/>
          </a:xfrm>
          <a:prstGeom prst="rect">
            <a:avLst/>
          </a:prstGeom>
          <a:noFill/>
        </p:spPr>
        <p:txBody>
          <a:bodyPr wrap="square" anchor="t" lIns="0" rIns="0" tIns="0" bIns="0">
            <a:spAutoFit/>
          </a:bodyPr>
          <a:lstStyle/>
          <a:p>
            <a:pPr algn="l"/>
            <a:r>
              <a:rPr sz="1600" b="0">
                <a:solidFill>
                  <a:srgbClr val="9A9A9A"/>
                </a:solidFill>
                <a:latin typeface="Montserrat"/>
              </a:rPr>
              <a:t>Real homes, real moments. V is the quiet hero of the living room.</a:t>
            </a:r>
          </a:p>
        </p:txBody>
      </p:sp>
      <p:sp>
        <p:nvSpPr>
          <p:cNvPr id="5" name="Rounded Rectangle 4"/>
          <p:cNvSpPr/>
          <p:nvPr/>
        </p:nvSpPr>
        <p:spPr>
          <a:xfrm>
            <a:off x="566928" y="2167128"/>
            <a:ext cx="3072384" cy="3895344"/>
          </a:xfrm>
          <a:prstGeom prst="roundRect">
            <a:avLst>
              <a:gd name="adj" fmla="val 8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286000"/>
            <a:ext cx="2926080" cy="365760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86000"/>
            <a:ext cx="2651760" cy="3657600"/>
          </a:xfrm>
          <a:prstGeom prst="rect">
            <a:avLst/>
          </a:prstGeom>
          <a:noFill/>
        </p:spPr>
        <p:txBody>
          <a:bodyPr wrap="square" anchor="ctr" lIns="0" rIns="0" tIns="0" bIns="0">
            <a:spAutoFit/>
          </a:bodyPr>
          <a:lstStyle/>
          <a:p>
            <a:pPr algn="ctr"/>
            <a:r>
              <a:rPr sz="1000" b="0">
                <a:solidFill>
                  <a:srgbClr val="9A9A9A"/>
                </a:solidFill>
                <a:latin typeface="Montserrat"/>
              </a:rPr>
              <a:t>9-grid living-room launch mockup in phone frame (Plan PDF)</a:t>
            </a:r>
          </a:p>
          <a:p>
            <a:pPr algn="ctr"/>
            <a:r>
              <a:rPr sz="1000" b="0">
                <a:solidFill>
                  <a:srgbClr val="9A9A9A"/>
                </a:solidFill>
                <a:latin typeface="Montserrat"/>
              </a:rPr>
              <a:t>assets/05_ig_9grid_launch_mobile.png</a:t>
            </a:r>
          </a:p>
        </p:txBody>
      </p:sp>
      <p:sp>
        <p:nvSpPr>
          <p:cNvPr id="8" name="Rectangle 7"/>
          <p:cNvSpPr/>
          <p:nvPr/>
        </p:nvSpPr>
        <p:spPr>
          <a:xfrm>
            <a:off x="3977639" y="2286000"/>
            <a:ext cx="2423160" cy="365760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9" y="2286000"/>
            <a:ext cx="2148840" cy="3657600"/>
          </a:xfrm>
          <a:prstGeom prst="rect">
            <a:avLst/>
          </a:prstGeom>
          <a:noFill/>
        </p:spPr>
        <p:txBody>
          <a:bodyPr wrap="square" anchor="ctr" lIns="0" rIns="0" tIns="0" bIns="0">
            <a:spAutoFit/>
          </a:bodyPr>
          <a:lstStyle/>
          <a:p>
            <a:pPr algn="ctr"/>
            <a:r>
              <a:rPr sz="1000" b="0">
                <a:solidFill>
                  <a:srgbClr val="9A9A9A"/>
                </a:solidFill>
                <a:latin typeface="Montserrat"/>
              </a:rPr>
              <a:t>Uncurated sofa lifestyle shot #1</a:t>
            </a:r>
          </a:p>
          <a:p>
            <a:pPr algn="ctr"/>
            <a:r>
              <a:rPr sz="1000" b="0">
                <a:solidFill>
                  <a:srgbClr val="9A9A9A"/>
                </a:solidFill>
                <a:latin typeface="Montserrat"/>
              </a:rPr>
              <a:t>assets/05_sofa_lifestyle_1.png</a:t>
            </a:r>
          </a:p>
        </p:txBody>
      </p:sp>
      <p:sp>
        <p:nvSpPr>
          <p:cNvPr id="10" name="Rectangle 9"/>
          <p:cNvSpPr/>
          <p:nvPr/>
        </p:nvSpPr>
        <p:spPr>
          <a:xfrm>
            <a:off x="6583679" y="2286000"/>
            <a:ext cx="2423160" cy="365760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39" y="2286000"/>
            <a:ext cx="2148840" cy="3657600"/>
          </a:xfrm>
          <a:prstGeom prst="rect">
            <a:avLst/>
          </a:prstGeom>
          <a:noFill/>
        </p:spPr>
        <p:txBody>
          <a:bodyPr wrap="square" anchor="ctr" lIns="0" rIns="0" tIns="0" bIns="0">
            <a:spAutoFit/>
          </a:bodyPr>
          <a:lstStyle/>
          <a:p>
            <a:pPr algn="ctr"/>
            <a:r>
              <a:rPr sz="1000" b="0">
                <a:solidFill>
                  <a:srgbClr val="9A9A9A"/>
                </a:solidFill>
                <a:latin typeface="Montserrat"/>
              </a:rPr>
              <a:t>Uncurated sofa lifestyle shot #2</a:t>
            </a:r>
          </a:p>
          <a:p>
            <a:pPr algn="ctr"/>
            <a:r>
              <a:rPr sz="1000" b="0">
                <a:solidFill>
                  <a:srgbClr val="9A9A9A"/>
                </a:solidFill>
                <a:latin typeface="Montserrat"/>
              </a:rPr>
              <a:t>assets/05_sofa_lifestyle_2.png</a:t>
            </a:r>
          </a:p>
        </p:txBody>
      </p:sp>
      <p:sp>
        <p:nvSpPr>
          <p:cNvPr id="12" name="Rectangle 11"/>
          <p:cNvSpPr/>
          <p:nvPr/>
        </p:nvSpPr>
        <p:spPr>
          <a:xfrm>
            <a:off x="9189719" y="2286000"/>
            <a:ext cx="2423160" cy="365760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79" y="2286000"/>
            <a:ext cx="2148840" cy="3657600"/>
          </a:xfrm>
          <a:prstGeom prst="rect">
            <a:avLst/>
          </a:prstGeom>
          <a:noFill/>
        </p:spPr>
        <p:txBody>
          <a:bodyPr wrap="square" anchor="ctr" lIns="0" rIns="0" tIns="0" bIns="0">
            <a:spAutoFit/>
          </a:bodyPr>
          <a:lstStyle/>
          <a:p>
            <a:pPr algn="ctr"/>
            <a:r>
              <a:rPr sz="1000" b="0">
                <a:solidFill>
                  <a:srgbClr val="9A9A9A"/>
                </a:solidFill>
                <a:latin typeface="Montserrat"/>
              </a:rPr>
              <a:t>Uncurated sofa lifestyle shot #3</a:t>
            </a:r>
          </a:p>
          <a:p>
            <a:pPr algn="ctr"/>
            <a:r>
              <a:rPr sz="1000" b="0">
                <a:solidFill>
                  <a:srgbClr val="9A9A9A"/>
                </a:solidFill>
                <a:latin typeface="Montserrat"/>
              </a:rPr>
              <a:t>assets/05_sofa_lifestyle_3.png</a:t>
            </a:r>
          </a:p>
        </p:txBody>
      </p:sp>
      <p:sp>
        <p:nvSpPr>
          <p:cNvPr id="14" name="Rounded Rectangle 13"/>
          <p:cNvSpPr/>
          <p:nvPr/>
        </p:nvSpPr>
        <p:spPr>
          <a:xfrm>
            <a:off x="640080" y="5989320"/>
            <a:ext cx="2377440"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5989320"/>
            <a:ext cx="2377440" cy="411480"/>
          </a:xfrm>
          <a:prstGeom prst="rect">
            <a:avLst/>
          </a:prstGeom>
          <a:noFill/>
        </p:spPr>
        <p:txBody>
          <a:bodyPr wrap="square" anchor="ctr" lIns="0" rIns="0" tIns="0" bIns="0">
            <a:spAutoFit/>
          </a:bodyPr>
          <a:lstStyle/>
          <a:p>
            <a:pPr algn="ctr"/>
            <a:r>
              <a:rPr sz="1200" b="1">
                <a:solidFill>
                  <a:srgbClr val="F5C518"/>
                </a:solidFill>
                <a:latin typeface="Montserrat"/>
              </a:rPr>
              <a:t>9-grid launch moment</a:t>
            </a:r>
          </a:p>
        </p:txBody>
      </p:sp>
      <p:sp>
        <p:nvSpPr>
          <p:cNvPr id="16" name="Rounded Rectangle 15"/>
          <p:cNvSpPr/>
          <p:nvPr/>
        </p:nvSpPr>
        <p:spPr>
          <a:xfrm>
            <a:off x="3200400" y="5989320"/>
            <a:ext cx="2061972"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0" y="5989320"/>
            <a:ext cx="2061972" cy="411480"/>
          </a:xfrm>
          <a:prstGeom prst="rect">
            <a:avLst/>
          </a:prstGeom>
          <a:noFill/>
        </p:spPr>
        <p:txBody>
          <a:bodyPr wrap="square" anchor="ctr" lIns="0" rIns="0" tIns="0" bIns="0">
            <a:spAutoFit/>
          </a:bodyPr>
          <a:lstStyle/>
          <a:p>
            <a:pPr algn="ctr"/>
            <a:r>
              <a:rPr sz="1200" b="1">
                <a:solidFill>
                  <a:srgbClr val="F5C518"/>
                </a:solidFill>
                <a:latin typeface="Montserrat"/>
              </a:rPr>
              <a:t>Lifestyle &gt; specs</a:t>
            </a:r>
          </a:p>
        </p:txBody>
      </p:sp>
      <p:sp>
        <p:nvSpPr>
          <p:cNvPr id="18" name="Rounded Rectangle 17"/>
          <p:cNvSpPr/>
          <p:nvPr/>
        </p:nvSpPr>
        <p:spPr>
          <a:xfrm>
            <a:off x="5445252" y="5989320"/>
            <a:ext cx="1851660"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5252" y="5989320"/>
            <a:ext cx="1851660" cy="411480"/>
          </a:xfrm>
          <a:prstGeom prst="rect">
            <a:avLst/>
          </a:prstGeom>
          <a:noFill/>
        </p:spPr>
        <p:txBody>
          <a:bodyPr wrap="square" anchor="ctr" lIns="0" rIns="0" tIns="0" bIns="0">
            <a:spAutoFit/>
          </a:bodyPr>
          <a:lstStyle/>
          <a:p>
            <a:pPr algn="ctr"/>
            <a:r>
              <a:rPr sz="1200" b="1">
                <a:solidFill>
                  <a:srgbClr val="F5C518"/>
                </a:solidFill>
                <a:latin typeface="Montserrat"/>
              </a:rPr>
              <a:t>Community-first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anchor="t" lIns="0" rIns="0" tIns="0" bIns="0">
            <a:spAutoFit/>
          </a:bodyPr>
          <a:lstStyle/>
          <a:p>
            <a:pPr algn="l"/>
            <a:r>
              <a:rPr sz="1100" b="1" spc="300">
                <a:solidFill>
                  <a:srgbClr val="F5C518"/>
                </a:solidFill>
                <a:latin typeface="Montserrat"/>
              </a:rPr>
              <a:t>06  /  AMPLIFIERS</a:t>
            </a:r>
          </a:p>
        </p:txBody>
      </p:sp>
      <p:sp>
        <p:nvSpPr>
          <p:cNvPr id="3" name="TextBox 2"/>
          <p:cNvSpPr txBox="1"/>
          <p:nvPr/>
        </p:nvSpPr>
        <p:spPr>
          <a:xfrm>
            <a:off x="640080" y="777240"/>
            <a:ext cx="10972800" cy="822960"/>
          </a:xfrm>
          <a:prstGeom prst="rect">
            <a:avLst/>
          </a:prstGeom>
          <a:noFill/>
        </p:spPr>
        <p:txBody>
          <a:bodyPr wrap="square" anchor="t" lIns="0" rIns="0" tIns="0" bIns="0">
            <a:spAutoFit/>
          </a:bodyPr>
          <a:lstStyle/>
          <a:p>
            <a:pPr algn="l"/>
            <a:r>
              <a:rPr sz="3000" b="1">
                <a:solidFill>
                  <a:srgbClr val="FFFFFF"/>
                </a:solidFill>
                <a:latin typeface="Montserrat"/>
              </a:rPr>
              <a:t>Creators Make V Famous Faster.</a:t>
            </a:r>
          </a:p>
        </p:txBody>
      </p:sp>
      <p:sp>
        <p:nvSpPr>
          <p:cNvPr id="4" name="TextBox 3"/>
          <p:cNvSpPr txBox="1"/>
          <p:nvPr/>
        </p:nvSpPr>
        <p:spPr>
          <a:xfrm>
            <a:off x="640080" y="1554480"/>
            <a:ext cx="10515600" cy="457200"/>
          </a:xfrm>
          <a:prstGeom prst="rect">
            <a:avLst/>
          </a:prstGeom>
          <a:noFill/>
        </p:spPr>
        <p:txBody>
          <a:bodyPr wrap="square" anchor="t" lIns="0" rIns="0" tIns="0" bIns="0">
            <a:spAutoFit/>
          </a:bodyPr>
          <a:lstStyle/>
          <a:p>
            <a:pPr algn="l"/>
            <a:r>
              <a:rPr sz="1600" b="0">
                <a:solidFill>
                  <a:srgbClr val="9A9A9A"/>
                </a:solidFill>
                <a:latin typeface="Montserrat"/>
              </a:rPr>
              <a:t>YouTube and ambassadors multiply reach we don't have to buy.</a:t>
            </a:r>
          </a:p>
        </p:txBody>
      </p:sp>
      <p:sp>
        <p:nvSpPr>
          <p:cNvPr id="5" name="Rectangle 4"/>
          <p:cNvSpPr/>
          <p:nvPr/>
        </p:nvSpPr>
        <p:spPr>
          <a:xfrm>
            <a:off x="640080" y="2286000"/>
            <a:ext cx="5669280" cy="347472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286000"/>
            <a:ext cx="5394960" cy="3474720"/>
          </a:xfrm>
          <a:prstGeom prst="rect">
            <a:avLst/>
          </a:prstGeom>
          <a:noFill/>
        </p:spPr>
        <p:txBody>
          <a:bodyPr wrap="square" anchor="ctr" lIns="0" rIns="0" tIns="0" bIns="0">
            <a:spAutoFit/>
          </a:bodyPr>
          <a:lstStyle/>
          <a:p>
            <a:pPr algn="ctr"/>
            <a:r>
              <a:rPr sz="1000" b="0">
                <a:solidFill>
                  <a:srgbClr val="9A9A9A"/>
                </a:solidFill>
                <a:latin typeface="Montserrat"/>
              </a:rPr>
              <a:t>YouTube channel / thumbnail mockups (Plan PDF)</a:t>
            </a:r>
          </a:p>
          <a:p>
            <a:pPr algn="ctr"/>
            <a:r>
              <a:rPr sz="1000" b="0">
                <a:solidFill>
                  <a:srgbClr val="9A9A9A"/>
                </a:solidFill>
                <a:latin typeface="Montserrat"/>
              </a:rPr>
              <a:t>assets/06_youtube_thumbnails.png</a:t>
            </a:r>
          </a:p>
        </p:txBody>
      </p:sp>
      <p:sp>
        <p:nvSpPr>
          <p:cNvPr id="7" name="Rectangle 6"/>
          <p:cNvSpPr/>
          <p:nvPr/>
        </p:nvSpPr>
        <p:spPr>
          <a:xfrm>
            <a:off x="6537960" y="2286000"/>
            <a:ext cx="1554480" cy="347472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0" y="2286000"/>
            <a:ext cx="1280160" cy="3474720"/>
          </a:xfrm>
          <a:prstGeom prst="rect">
            <a:avLst/>
          </a:prstGeom>
          <a:noFill/>
        </p:spPr>
        <p:txBody>
          <a:bodyPr wrap="square" anchor="ctr" lIns="0" rIns="0" tIns="0" bIns="0">
            <a:spAutoFit/>
          </a:bodyPr>
          <a:lstStyle/>
          <a:p>
            <a:pPr algn="ctr"/>
            <a:r>
              <a:rPr sz="1000" b="0">
                <a:solidFill>
                  <a:srgbClr val="9A9A9A"/>
                </a:solidFill>
                <a:latin typeface="Montserrat"/>
              </a:rPr>
              <a:t>Creator / ambassador card #1</a:t>
            </a:r>
          </a:p>
          <a:p>
            <a:pPr algn="ctr"/>
            <a:r>
              <a:rPr sz="1000" b="0">
                <a:solidFill>
                  <a:srgbClr val="9A9A9A"/>
                </a:solidFill>
                <a:latin typeface="Montserrat"/>
              </a:rPr>
              <a:t>assets/06_creator_1.png</a:t>
            </a:r>
          </a:p>
        </p:txBody>
      </p:sp>
      <p:sp>
        <p:nvSpPr>
          <p:cNvPr id="9" name="Rectangle 8"/>
          <p:cNvSpPr/>
          <p:nvPr/>
        </p:nvSpPr>
        <p:spPr>
          <a:xfrm>
            <a:off x="8229600" y="2286000"/>
            <a:ext cx="1554480" cy="347472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2286000"/>
            <a:ext cx="1280160" cy="3474720"/>
          </a:xfrm>
          <a:prstGeom prst="rect">
            <a:avLst/>
          </a:prstGeom>
          <a:noFill/>
        </p:spPr>
        <p:txBody>
          <a:bodyPr wrap="square" anchor="ctr" lIns="0" rIns="0" tIns="0" bIns="0">
            <a:spAutoFit/>
          </a:bodyPr>
          <a:lstStyle/>
          <a:p>
            <a:pPr algn="ctr"/>
            <a:r>
              <a:rPr sz="1000" b="0">
                <a:solidFill>
                  <a:srgbClr val="9A9A9A"/>
                </a:solidFill>
                <a:latin typeface="Montserrat"/>
              </a:rPr>
              <a:t>Creator / ambassador card #2</a:t>
            </a:r>
          </a:p>
          <a:p>
            <a:pPr algn="ctr"/>
            <a:r>
              <a:rPr sz="1000" b="0">
                <a:solidFill>
                  <a:srgbClr val="9A9A9A"/>
                </a:solidFill>
                <a:latin typeface="Montserrat"/>
              </a:rPr>
              <a:t>assets/06_creator_2.png</a:t>
            </a:r>
          </a:p>
        </p:txBody>
      </p:sp>
      <p:sp>
        <p:nvSpPr>
          <p:cNvPr id="11" name="Rectangle 10"/>
          <p:cNvSpPr/>
          <p:nvPr/>
        </p:nvSpPr>
        <p:spPr>
          <a:xfrm>
            <a:off x="9921240" y="2286000"/>
            <a:ext cx="1554480" cy="3474720"/>
          </a:xfrm>
          <a:prstGeom prst="rect">
            <a:avLst/>
          </a:prstGeom>
          <a:solidFill>
            <a:srgbClr val="171717"/>
          </a:solidFill>
          <a:ln w="1587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0" y="2286000"/>
            <a:ext cx="1280160" cy="3474720"/>
          </a:xfrm>
          <a:prstGeom prst="rect">
            <a:avLst/>
          </a:prstGeom>
          <a:noFill/>
        </p:spPr>
        <p:txBody>
          <a:bodyPr wrap="square" anchor="ctr" lIns="0" rIns="0" tIns="0" bIns="0">
            <a:spAutoFit/>
          </a:bodyPr>
          <a:lstStyle/>
          <a:p>
            <a:pPr algn="ctr"/>
            <a:r>
              <a:rPr sz="1000" b="0">
                <a:solidFill>
                  <a:srgbClr val="9A9A9A"/>
                </a:solidFill>
                <a:latin typeface="Montserrat"/>
              </a:rPr>
              <a:t>Creator / ambassador card #3</a:t>
            </a:r>
          </a:p>
          <a:p>
            <a:pPr algn="ctr"/>
            <a:r>
              <a:rPr sz="1000" b="0">
                <a:solidFill>
                  <a:srgbClr val="9A9A9A"/>
                </a:solidFill>
                <a:latin typeface="Montserrat"/>
              </a:rPr>
              <a:t>assets/06_creator_3.png</a:t>
            </a:r>
          </a:p>
        </p:txBody>
      </p:sp>
      <p:sp>
        <p:nvSpPr>
          <p:cNvPr id="13" name="Rounded Rectangle 12"/>
          <p:cNvSpPr/>
          <p:nvPr/>
        </p:nvSpPr>
        <p:spPr>
          <a:xfrm>
            <a:off x="640080" y="5989320"/>
            <a:ext cx="1746504"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989320"/>
            <a:ext cx="1746504" cy="411480"/>
          </a:xfrm>
          <a:prstGeom prst="rect">
            <a:avLst/>
          </a:prstGeom>
          <a:noFill/>
        </p:spPr>
        <p:txBody>
          <a:bodyPr wrap="square" anchor="ctr" lIns="0" rIns="0" tIns="0" bIns="0">
            <a:spAutoFit/>
          </a:bodyPr>
          <a:lstStyle/>
          <a:p>
            <a:pPr algn="ctr"/>
            <a:r>
              <a:rPr sz="1200" b="1">
                <a:solidFill>
                  <a:srgbClr val="F5C518"/>
                </a:solidFill>
                <a:latin typeface="Montserrat"/>
              </a:rPr>
              <a:t>Borrowed trust</a:t>
            </a:r>
          </a:p>
        </p:txBody>
      </p:sp>
      <p:sp>
        <p:nvSpPr>
          <p:cNvPr id="15" name="Rounded Rectangle 14"/>
          <p:cNvSpPr/>
          <p:nvPr/>
        </p:nvSpPr>
        <p:spPr>
          <a:xfrm>
            <a:off x="2569464" y="5989320"/>
            <a:ext cx="1851660"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69464" y="5989320"/>
            <a:ext cx="1851660" cy="411480"/>
          </a:xfrm>
          <a:prstGeom prst="rect">
            <a:avLst/>
          </a:prstGeom>
          <a:noFill/>
        </p:spPr>
        <p:txBody>
          <a:bodyPr wrap="square" anchor="ctr" lIns="0" rIns="0" tIns="0" bIns="0">
            <a:spAutoFit/>
          </a:bodyPr>
          <a:lstStyle/>
          <a:p>
            <a:pPr algn="ctr"/>
            <a:r>
              <a:rPr sz="1200" b="1">
                <a:solidFill>
                  <a:srgbClr val="F5C518"/>
                </a:solidFill>
                <a:latin typeface="Montserrat"/>
              </a:rPr>
              <a:t>Always-on video</a:t>
            </a:r>
          </a:p>
        </p:txBody>
      </p:sp>
      <p:sp>
        <p:nvSpPr>
          <p:cNvPr id="17" name="Rounded Rectangle 16"/>
          <p:cNvSpPr/>
          <p:nvPr/>
        </p:nvSpPr>
        <p:spPr>
          <a:xfrm>
            <a:off x="4604004" y="5989320"/>
            <a:ext cx="2377440"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04004" y="5989320"/>
            <a:ext cx="2377440" cy="411480"/>
          </a:xfrm>
          <a:prstGeom prst="rect">
            <a:avLst/>
          </a:prstGeom>
          <a:noFill/>
        </p:spPr>
        <p:txBody>
          <a:bodyPr wrap="square" anchor="ctr" lIns="0" rIns="0" tIns="0" bIns="0">
            <a:spAutoFit/>
          </a:bodyPr>
          <a:lstStyle/>
          <a:p>
            <a:pPr algn="ctr"/>
            <a:r>
              <a:rPr sz="1200" b="1">
                <a:solidFill>
                  <a:srgbClr val="F5C518"/>
                </a:solidFill>
                <a:latin typeface="Montserrat"/>
              </a:rPr>
              <a:t>Lower cost per reach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640080" y="457200"/>
            <a:ext cx="7315200" cy="274320"/>
          </a:xfrm>
          <a:prstGeom prst="rect">
            <a:avLst/>
          </a:prstGeom>
          <a:noFill/>
        </p:spPr>
        <p:txBody>
          <a:bodyPr wrap="square" anchor="t" lIns="0" rIns="0" tIns="0" bIns="0">
            <a:spAutoFit/>
          </a:bodyPr>
          <a:lstStyle/>
          <a:p>
            <a:pPr algn="l"/>
            <a:r>
              <a:rPr sz="1100" b="1" spc="300">
                <a:solidFill>
                  <a:srgbClr val="F5C518"/>
                </a:solidFill>
                <a:latin typeface="Montserrat"/>
              </a:rPr>
              <a:t>07  /  DECISION</a:t>
            </a:r>
          </a:p>
        </p:txBody>
      </p:sp>
      <p:sp>
        <p:nvSpPr>
          <p:cNvPr id="3" name="TextBox 2"/>
          <p:cNvSpPr txBox="1"/>
          <p:nvPr/>
        </p:nvSpPr>
        <p:spPr>
          <a:xfrm>
            <a:off x="640080" y="777240"/>
            <a:ext cx="10972800" cy="822960"/>
          </a:xfrm>
          <a:prstGeom prst="rect">
            <a:avLst/>
          </a:prstGeom>
          <a:noFill/>
        </p:spPr>
        <p:txBody>
          <a:bodyPr wrap="square" anchor="t" lIns="0" rIns="0" tIns="0" bIns="0">
            <a:spAutoFit/>
          </a:bodyPr>
          <a:lstStyle/>
          <a:p>
            <a:pPr algn="l"/>
            <a:r>
              <a:rPr sz="3000" b="1">
                <a:solidFill>
                  <a:srgbClr val="FFFFFF"/>
                </a:solidFill>
                <a:latin typeface="Montserrat"/>
              </a:rPr>
              <a:t>Greenlight: 90 Days to Launch V.</a:t>
            </a:r>
          </a:p>
        </p:txBody>
      </p:sp>
      <p:sp>
        <p:nvSpPr>
          <p:cNvPr id="4" name="TextBox 3"/>
          <p:cNvSpPr txBox="1"/>
          <p:nvPr/>
        </p:nvSpPr>
        <p:spPr>
          <a:xfrm>
            <a:off x="640080" y="1554480"/>
            <a:ext cx="10515600" cy="457200"/>
          </a:xfrm>
          <a:prstGeom prst="rect">
            <a:avLst/>
          </a:prstGeom>
          <a:noFill/>
        </p:spPr>
        <p:txBody>
          <a:bodyPr wrap="square" anchor="t" lIns="0" rIns="0" tIns="0" bIns="0">
            <a:spAutoFit/>
          </a:bodyPr>
          <a:lstStyle/>
          <a:p>
            <a:pPr algn="l"/>
            <a:r>
              <a:rPr sz="1600" b="0">
                <a:solidFill>
                  <a:srgbClr val="9A9A9A"/>
                </a:solidFill>
                <a:latin typeface="Montserrat"/>
              </a:rPr>
              <a:t>Three phases. Every phase tied to a business number.</a:t>
            </a:r>
          </a:p>
        </p:txBody>
      </p:sp>
      <p:sp>
        <p:nvSpPr>
          <p:cNvPr id="5" name="Rectangle 4"/>
          <p:cNvSpPr/>
          <p:nvPr/>
        </p:nvSpPr>
        <p:spPr>
          <a:xfrm>
            <a:off x="640080" y="2286000"/>
            <a:ext cx="3454298" cy="73152"/>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60320"/>
            <a:ext cx="3454298" cy="274320"/>
          </a:xfrm>
          <a:prstGeom prst="rect">
            <a:avLst/>
          </a:prstGeom>
          <a:noFill/>
        </p:spPr>
        <p:txBody>
          <a:bodyPr wrap="square" anchor="t" lIns="0" rIns="0" tIns="0" bIns="0">
            <a:spAutoFit/>
          </a:bodyPr>
          <a:lstStyle/>
          <a:p>
            <a:pPr algn="l"/>
            <a:r>
              <a:rPr sz="1200" b="1" spc="300">
                <a:solidFill>
                  <a:srgbClr val="F5C518"/>
                </a:solidFill>
                <a:latin typeface="Montserrat"/>
              </a:rPr>
              <a:t>DAY 0-30</a:t>
            </a:r>
          </a:p>
        </p:txBody>
      </p:sp>
      <p:sp>
        <p:nvSpPr>
          <p:cNvPr id="7" name="TextBox 6"/>
          <p:cNvSpPr txBox="1"/>
          <p:nvPr/>
        </p:nvSpPr>
        <p:spPr>
          <a:xfrm>
            <a:off x="640080" y="2880360"/>
            <a:ext cx="3454298" cy="731520"/>
          </a:xfrm>
          <a:prstGeom prst="rect">
            <a:avLst/>
          </a:prstGeom>
          <a:noFill/>
        </p:spPr>
        <p:txBody>
          <a:bodyPr wrap="square" anchor="t" lIns="0" rIns="0" tIns="0" bIns="0">
            <a:spAutoFit/>
          </a:bodyPr>
          <a:lstStyle/>
          <a:p>
            <a:pPr algn="l"/>
            <a:r>
              <a:rPr sz="3400" b="1">
                <a:solidFill>
                  <a:srgbClr val="FFFFFF"/>
                </a:solidFill>
                <a:latin typeface="Montserrat"/>
              </a:rPr>
              <a:t>Ignite</a:t>
            </a:r>
          </a:p>
        </p:txBody>
      </p:sp>
      <p:sp>
        <p:nvSpPr>
          <p:cNvPr id="8" name="TextBox 7"/>
          <p:cNvSpPr txBox="1"/>
          <p:nvPr/>
        </p:nvSpPr>
        <p:spPr>
          <a:xfrm>
            <a:off x="640080" y="3703320"/>
            <a:ext cx="3179978" cy="822960"/>
          </a:xfrm>
          <a:prstGeom prst="rect">
            <a:avLst/>
          </a:prstGeom>
          <a:noFill/>
        </p:spPr>
        <p:txBody>
          <a:bodyPr wrap="square" anchor="t" lIns="0" rIns="0" tIns="0" bIns="0">
            <a:spAutoFit/>
          </a:bodyPr>
          <a:lstStyle/>
          <a:p>
            <a:pPr algn="l"/>
            <a:r>
              <a:rPr sz="1500" b="0">
                <a:solidFill>
                  <a:srgbClr val="9A9A9A"/>
                </a:solidFill>
                <a:latin typeface="Montserrat"/>
              </a:rPr>
              <a:t>Rebrand live, 9-grid launch, exec voices on</a:t>
            </a:r>
          </a:p>
        </p:txBody>
      </p:sp>
      <p:sp>
        <p:nvSpPr>
          <p:cNvPr id="9" name="Rectangle 8"/>
          <p:cNvSpPr/>
          <p:nvPr/>
        </p:nvSpPr>
        <p:spPr>
          <a:xfrm>
            <a:off x="4368698" y="2286000"/>
            <a:ext cx="3454298" cy="73152"/>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68698" y="2560320"/>
            <a:ext cx="3454298" cy="274320"/>
          </a:xfrm>
          <a:prstGeom prst="rect">
            <a:avLst/>
          </a:prstGeom>
          <a:noFill/>
        </p:spPr>
        <p:txBody>
          <a:bodyPr wrap="square" anchor="t" lIns="0" rIns="0" tIns="0" bIns="0">
            <a:spAutoFit/>
          </a:bodyPr>
          <a:lstStyle/>
          <a:p>
            <a:pPr algn="l"/>
            <a:r>
              <a:rPr sz="1200" b="1" spc="300">
                <a:solidFill>
                  <a:srgbClr val="F5C518"/>
                </a:solidFill>
                <a:latin typeface="Montserrat"/>
              </a:rPr>
              <a:t>DAY 31-60</a:t>
            </a:r>
          </a:p>
        </p:txBody>
      </p:sp>
      <p:sp>
        <p:nvSpPr>
          <p:cNvPr id="11" name="TextBox 10"/>
          <p:cNvSpPr txBox="1"/>
          <p:nvPr/>
        </p:nvSpPr>
        <p:spPr>
          <a:xfrm>
            <a:off x="4368698" y="2880360"/>
            <a:ext cx="3454298" cy="731520"/>
          </a:xfrm>
          <a:prstGeom prst="rect">
            <a:avLst/>
          </a:prstGeom>
          <a:noFill/>
        </p:spPr>
        <p:txBody>
          <a:bodyPr wrap="square" anchor="t" lIns="0" rIns="0" tIns="0" bIns="0">
            <a:spAutoFit/>
          </a:bodyPr>
          <a:lstStyle/>
          <a:p>
            <a:pPr algn="l"/>
            <a:r>
              <a:rPr sz="3400" b="1">
                <a:solidFill>
                  <a:srgbClr val="FFFFFF"/>
                </a:solidFill>
                <a:latin typeface="Montserrat"/>
              </a:rPr>
              <a:t>Prove</a:t>
            </a:r>
          </a:p>
        </p:txBody>
      </p:sp>
      <p:sp>
        <p:nvSpPr>
          <p:cNvPr id="12" name="TextBox 11"/>
          <p:cNvSpPr txBox="1"/>
          <p:nvPr/>
        </p:nvSpPr>
        <p:spPr>
          <a:xfrm>
            <a:off x="4368698" y="3703320"/>
            <a:ext cx="3179978" cy="822960"/>
          </a:xfrm>
          <a:prstGeom prst="rect">
            <a:avLst/>
          </a:prstGeom>
          <a:noFill/>
        </p:spPr>
        <p:txBody>
          <a:bodyPr wrap="square" anchor="t" lIns="0" rIns="0" tIns="0" bIns="0">
            <a:spAutoFit/>
          </a:bodyPr>
          <a:lstStyle/>
          <a:p>
            <a:pPr algn="l"/>
            <a:r>
              <a:rPr sz="1500" b="0">
                <a:solidFill>
                  <a:srgbClr val="9A9A9A"/>
                </a:solidFill>
                <a:latin typeface="Montserrat"/>
              </a:rPr>
              <a:t>Data posts, first creators, community rhythm</a:t>
            </a:r>
          </a:p>
        </p:txBody>
      </p:sp>
      <p:sp>
        <p:nvSpPr>
          <p:cNvPr id="13" name="Rectangle 12"/>
          <p:cNvSpPr/>
          <p:nvPr/>
        </p:nvSpPr>
        <p:spPr>
          <a:xfrm>
            <a:off x="8097316" y="2286000"/>
            <a:ext cx="3454298" cy="73152"/>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7316" y="2560320"/>
            <a:ext cx="3454298" cy="274320"/>
          </a:xfrm>
          <a:prstGeom prst="rect">
            <a:avLst/>
          </a:prstGeom>
          <a:noFill/>
        </p:spPr>
        <p:txBody>
          <a:bodyPr wrap="square" anchor="t" lIns="0" rIns="0" tIns="0" bIns="0">
            <a:spAutoFit/>
          </a:bodyPr>
          <a:lstStyle/>
          <a:p>
            <a:pPr algn="l"/>
            <a:r>
              <a:rPr sz="1200" b="1" spc="300">
                <a:solidFill>
                  <a:srgbClr val="F5C518"/>
                </a:solidFill>
                <a:latin typeface="Montserrat"/>
              </a:rPr>
              <a:t>DAY 61-90</a:t>
            </a:r>
          </a:p>
        </p:txBody>
      </p:sp>
      <p:sp>
        <p:nvSpPr>
          <p:cNvPr id="15" name="TextBox 14"/>
          <p:cNvSpPr txBox="1"/>
          <p:nvPr/>
        </p:nvSpPr>
        <p:spPr>
          <a:xfrm>
            <a:off x="8097316" y="2880360"/>
            <a:ext cx="3454298" cy="731520"/>
          </a:xfrm>
          <a:prstGeom prst="rect">
            <a:avLst/>
          </a:prstGeom>
          <a:noFill/>
        </p:spPr>
        <p:txBody>
          <a:bodyPr wrap="square" anchor="t" lIns="0" rIns="0" tIns="0" bIns="0">
            <a:spAutoFit/>
          </a:bodyPr>
          <a:lstStyle/>
          <a:p>
            <a:pPr algn="l"/>
            <a:r>
              <a:rPr sz="3400" b="1">
                <a:solidFill>
                  <a:srgbClr val="FFFFFF"/>
                </a:solidFill>
                <a:latin typeface="Montserrat"/>
              </a:rPr>
              <a:t>Scale</a:t>
            </a:r>
          </a:p>
        </p:txBody>
      </p:sp>
      <p:sp>
        <p:nvSpPr>
          <p:cNvPr id="16" name="TextBox 15"/>
          <p:cNvSpPr txBox="1"/>
          <p:nvPr/>
        </p:nvSpPr>
        <p:spPr>
          <a:xfrm>
            <a:off x="8097316" y="3703320"/>
            <a:ext cx="3179978" cy="822960"/>
          </a:xfrm>
          <a:prstGeom prst="rect">
            <a:avLst/>
          </a:prstGeom>
          <a:noFill/>
        </p:spPr>
        <p:txBody>
          <a:bodyPr wrap="square" anchor="t" lIns="0" rIns="0" tIns="0" bIns="0">
            <a:spAutoFit/>
          </a:bodyPr>
          <a:lstStyle/>
          <a:p>
            <a:pPr algn="l"/>
            <a:r>
              <a:rPr sz="1500" b="0">
                <a:solidFill>
                  <a:srgbClr val="9A9A9A"/>
                </a:solidFill>
                <a:latin typeface="Montserrat"/>
              </a:rPr>
              <a:t>Double down on what converts, OEM showcases</a:t>
            </a:r>
          </a:p>
        </p:txBody>
      </p:sp>
      <p:sp>
        <p:nvSpPr>
          <p:cNvPr id="17" name="Rectangle 16"/>
          <p:cNvSpPr/>
          <p:nvPr/>
        </p:nvSpPr>
        <p:spPr>
          <a:xfrm>
            <a:off x="640080" y="4800600"/>
            <a:ext cx="10911535" cy="914400"/>
          </a:xfrm>
          <a:prstGeom prst="rect">
            <a:avLst/>
          </a:prstGeom>
          <a:solidFill>
            <a:srgbClr val="F5C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800600"/>
            <a:ext cx="10362895" cy="914400"/>
          </a:xfrm>
          <a:prstGeom prst="rect">
            <a:avLst/>
          </a:prstGeom>
          <a:noFill/>
        </p:spPr>
        <p:txBody>
          <a:bodyPr wrap="square" anchor="ctr" lIns="0" rIns="0" tIns="0" bIns="0">
            <a:spAutoFit/>
          </a:bodyPr>
          <a:lstStyle/>
          <a:p>
            <a:pPr algn="l"/>
            <a:r>
              <a:rPr sz="2000" b="1">
                <a:solidFill>
                  <a:srgbClr val="0A0A0A"/>
                </a:solidFill>
                <a:latin typeface="Montserrat"/>
              </a:rPr>
              <a:t>THE ASK:  approve budget [ $X ]  +  one CEO post per month</a:t>
            </a:r>
          </a:p>
        </p:txBody>
      </p:sp>
      <p:sp>
        <p:nvSpPr>
          <p:cNvPr id="19" name="Rounded Rectangle 18"/>
          <p:cNvSpPr/>
          <p:nvPr/>
        </p:nvSpPr>
        <p:spPr>
          <a:xfrm>
            <a:off x="640080" y="5989320"/>
            <a:ext cx="3113532"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989320"/>
            <a:ext cx="3113532" cy="411480"/>
          </a:xfrm>
          <a:prstGeom prst="rect">
            <a:avLst/>
          </a:prstGeom>
          <a:noFill/>
        </p:spPr>
        <p:txBody>
          <a:bodyPr wrap="square" anchor="ctr" lIns="0" rIns="0" tIns="0" bIns="0">
            <a:spAutoFit/>
          </a:bodyPr>
          <a:lstStyle/>
          <a:p>
            <a:pPr algn="ctr"/>
            <a:r>
              <a:rPr sz="1200" b="1">
                <a:solidFill>
                  <a:srgbClr val="F5C518"/>
                </a:solidFill>
                <a:latin typeface="Montserrat"/>
              </a:rPr>
              <a:t>KPI: OEM &amp; advertiser leads</a:t>
            </a:r>
          </a:p>
        </p:txBody>
      </p:sp>
      <p:sp>
        <p:nvSpPr>
          <p:cNvPr id="21" name="Rounded Rectangle 20"/>
          <p:cNvSpPr/>
          <p:nvPr/>
        </p:nvSpPr>
        <p:spPr>
          <a:xfrm>
            <a:off x="3936492" y="5989320"/>
            <a:ext cx="3323844"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36492" y="5989320"/>
            <a:ext cx="3323844" cy="411480"/>
          </a:xfrm>
          <a:prstGeom prst="rect">
            <a:avLst/>
          </a:prstGeom>
          <a:noFill/>
        </p:spPr>
        <p:txBody>
          <a:bodyPr wrap="square" anchor="ctr" lIns="0" rIns="0" tIns="0" bIns="0">
            <a:spAutoFit/>
          </a:bodyPr>
          <a:lstStyle/>
          <a:p>
            <a:pPr algn="ctr"/>
            <a:r>
              <a:rPr sz="1200" b="1">
                <a:solidFill>
                  <a:srgbClr val="F5C518"/>
                </a:solidFill>
                <a:latin typeface="Montserrat"/>
              </a:rPr>
              <a:t>KPI: brand search &amp; followers</a:t>
            </a:r>
          </a:p>
        </p:txBody>
      </p:sp>
      <p:sp>
        <p:nvSpPr>
          <p:cNvPr id="23" name="Rounded Rectangle 22"/>
          <p:cNvSpPr/>
          <p:nvPr/>
        </p:nvSpPr>
        <p:spPr>
          <a:xfrm>
            <a:off x="7443216" y="5989320"/>
            <a:ext cx="1641348" cy="411480"/>
          </a:xfrm>
          <a:prstGeom prst="roundRect">
            <a:avLst>
              <a:gd name="adj" fmla="val 50000"/>
            </a:avLst>
          </a:prstGeom>
          <a:solidFill>
            <a:srgbClr val="0A0A0A"/>
          </a:solidFill>
          <a:ln w="15875">
            <a:solidFill>
              <a:srgbClr val="F5C5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43216" y="5989320"/>
            <a:ext cx="1641348" cy="411480"/>
          </a:xfrm>
          <a:prstGeom prst="rect">
            <a:avLst/>
          </a:prstGeom>
          <a:noFill/>
        </p:spPr>
        <p:txBody>
          <a:bodyPr wrap="square" anchor="ctr" lIns="0" rIns="0" tIns="0" bIns="0">
            <a:spAutoFit/>
          </a:bodyPr>
          <a:lstStyle/>
          <a:p>
            <a:pPr algn="ctr"/>
            <a:r>
              <a:rPr sz="1200" b="1">
                <a:solidFill>
                  <a:srgbClr val="F5C518"/>
                </a:solidFill>
                <a:latin typeface="Montserrat"/>
              </a:rPr>
              <a:t>90-day review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